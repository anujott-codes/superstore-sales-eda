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legreya Sans SC" charset="1" panose="00000500000000000000"/>
      <p:regular r:id="rId29"/>
    </p:embeddedFont>
    <p:embeddedFont>
      <p:font typeface="Alegreya Sans SC Bold" charset="1" panose="00000800000000000000"/>
      <p:regular r:id="rId30"/>
    </p:embeddedFont>
    <p:embeddedFont>
      <p:font typeface="Canva Sans Bold" charset="1" panose="020B0803030501040103"/>
      <p:regular r:id="rId31"/>
    </p:embeddedFont>
    <p:embeddedFont>
      <p:font typeface="Aileron" charset="1" panose="00000500000000000000"/>
      <p:regular r:id="rId32"/>
    </p:embeddedFont>
    <p:embeddedFont>
      <p:font typeface="Aileron Bold" charset="1" panose="000008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3289" y="2837130"/>
            <a:ext cx="13968571" cy="195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2"/>
              </a:lnSpc>
            </a:pPr>
            <a:r>
              <a:rPr lang="en-US" sz="12291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SUPERSTORE SALES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60256"/>
            <a:ext cx="14162128" cy="350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29"/>
              </a:lnSpc>
            </a:pPr>
            <a:r>
              <a:rPr lang="en-US" sz="2199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CASE STUDY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03784" y="1856372"/>
            <a:ext cx="14994904" cy="6689279"/>
            <a:chOff x="0" y="0"/>
            <a:chExt cx="3949275" cy="17617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49275" cy="1761785"/>
            </a:xfrm>
            <a:custGeom>
              <a:avLst/>
              <a:gdLst/>
              <a:ahLst/>
              <a:cxnLst/>
              <a:rect r="r" b="b" t="t" l="l"/>
              <a:pathLst>
                <a:path h="1761785" w="3949275">
                  <a:moveTo>
                    <a:pt x="26331" y="0"/>
                  </a:moveTo>
                  <a:lnTo>
                    <a:pt x="3922944" y="0"/>
                  </a:lnTo>
                  <a:cubicBezTo>
                    <a:pt x="3937486" y="0"/>
                    <a:pt x="3949275" y="11789"/>
                    <a:pt x="3949275" y="26331"/>
                  </a:cubicBezTo>
                  <a:lnTo>
                    <a:pt x="3949275" y="1735454"/>
                  </a:lnTo>
                  <a:cubicBezTo>
                    <a:pt x="3949275" y="1749996"/>
                    <a:pt x="3937486" y="1761785"/>
                    <a:pt x="3922944" y="1761785"/>
                  </a:cubicBezTo>
                  <a:lnTo>
                    <a:pt x="26331" y="1761785"/>
                  </a:lnTo>
                  <a:cubicBezTo>
                    <a:pt x="11789" y="1761785"/>
                    <a:pt x="0" y="1749996"/>
                    <a:pt x="0" y="1735454"/>
                  </a:cubicBezTo>
                  <a:lnTo>
                    <a:pt x="0" y="26331"/>
                  </a:lnTo>
                  <a:cubicBezTo>
                    <a:pt x="0" y="11789"/>
                    <a:pt x="11789" y="0"/>
                    <a:pt x="2633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949275" cy="1799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291933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8662" y="2783219"/>
            <a:ext cx="14347327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Study is about performing Exploratory Data Analysis on SuperStore Sales Data and uncover the insights and trends within the data and prepare it for further modelling and analysis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2135906"/>
            <a:ext cx="12376386" cy="2375795"/>
            <a:chOff x="0" y="0"/>
            <a:chExt cx="3259624" cy="6257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625724"/>
            </a:xfrm>
            <a:custGeom>
              <a:avLst/>
              <a:gdLst/>
              <a:ahLst/>
              <a:cxnLst/>
              <a:rect r="r" b="b" t="t" l="l"/>
              <a:pathLst>
                <a:path h="625724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593821"/>
                  </a:lnTo>
                  <a:cubicBezTo>
                    <a:pt x="3259624" y="602282"/>
                    <a:pt x="3256263" y="610397"/>
                    <a:pt x="3250280" y="616380"/>
                  </a:cubicBezTo>
                  <a:cubicBezTo>
                    <a:pt x="3244297" y="622363"/>
                    <a:pt x="3236183" y="625724"/>
                    <a:pt x="3227722" y="625724"/>
                  </a:cubicBezTo>
                  <a:lnTo>
                    <a:pt x="31903" y="625724"/>
                  </a:lnTo>
                  <a:cubicBezTo>
                    <a:pt x="23441" y="625724"/>
                    <a:pt x="15327" y="622363"/>
                    <a:pt x="9344" y="616380"/>
                  </a:cubicBezTo>
                  <a:cubicBezTo>
                    <a:pt x="3361" y="610397"/>
                    <a:pt x="0" y="602282"/>
                    <a:pt x="0" y="593821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663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16878" y="607787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72846" y="2416998"/>
            <a:ext cx="11619206" cy="187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We were provided with raw data regarding the sales of a superstore within a csv file.</a:t>
            </a:r>
          </a:p>
          <a:p>
            <a:pPr algn="ctr">
              <a:lnSpc>
                <a:spcPts val="508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032835" y="4856509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Features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994257" y="6467142"/>
            <a:ext cx="12689896" cy="2944033"/>
            <a:chOff x="0" y="0"/>
            <a:chExt cx="3342195" cy="7753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42195" cy="775383"/>
            </a:xfrm>
            <a:custGeom>
              <a:avLst/>
              <a:gdLst/>
              <a:ahLst/>
              <a:cxnLst/>
              <a:rect r="r" b="b" t="t" l="l"/>
              <a:pathLst>
                <a:path h="775383" w="3342195">
                  <a:moveTo>
                    <a:pt x="31114" y="0"/>
                  </a:moveTo>
                  <a:lnTo>
                    <a:pt x="3311080" y="0"/>
                  </a:lnTo>
                  <a:cubicBezTo>
                    <a:pt x="3328264" y="0"/>
                    <a:pt x="3342195" y="13930"/>
                    <a:pt x="3342195" y="31114"/>
                  </a:cubicBezTo>
                  <a:lnTo>
                    <a:pt x="3342195" y="744269"/>
                  </a:lnTo>
                  <a:cubicBezTo>
                    <a:pt x="3342195" y="761453"/>
                    <a:pt x="3328264" y="775383"/>
                    <a:pt x="3311080" y="775383"/>
                  </a:cubicBezTo>
                  <a:lnTo>
                    <a:pt x="31114" y="775383"/>
                  </a:lnTo>
                  <a:cubicBezTo>
                    <a:pt x="13930" y="775383"/>
                    <a:pt x="0" y="761453"/>
                    <a:pt x="0" y="744269"/>
                  </a:cubicBezTo>
                  <a:lnTo>
                    <a:pt x="0" y="31114"/>
                  </a:lnTo>
                  <a:cubicBezTo>
                    <a:pt x="0" y="13930"/>
                    <a:pt x="13930" y="0"/>
                    <a:pt x="31114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42195" cy="813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488804" y="6664989"/>
            <a:ext cx="11619206" cy="251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dataset provided a diverse set of features, including categorical, numerical, and date-time data, making it ideal for practicing data cleaning, feature engineering, and visualization techniques.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307767" y="1932316"/>
            <a:ext cx="11749365" cy="2846061"/>
            <a:chOff x="0" y="0"/>
            <a:chExt cx="3094483" cy="7495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94483" cy="749580"/>
            </a:xfrm>
            <a:custGeom>
              <a:avLst/>
              <a:gdLst/>
              <a:ahLst/>
              <a:cxnLst/>
              <a:rect r="r" b="b" t="t" l="l"/>
              <a:pathLst>
                <a:path h="749580" w="3094483">
                  <a:moveTo>
                    <a:pt x="33605" y="0"/>
                  </a:moveTo>
                  <a:lnTo>
                    <a:pt x="3060878" y="0"/>
                  </a:lnTo>
                  <a:cubicBezTo>
                    <a:pt x="3069791" y="0"/>
                    <a:pt x="3078338" y="3541"/>
                    <a:pt x="3084640" y="9843"/>
                  </a:cubicBezTo>
                  <a:cubicBezTo>
                    <a:pt x="3090943" y="16145"/>
                    <a:pt x="3094483" y="24692"/>
                    <a:pt x="3094483" y="33605"/>
                  </a:cubicBezTo>
                  <a:lnTo>
                    <a:pt x="3094483" y="715975"/>
                  </a:lnTo>
                  <a:cubicBezTo>
                    <a:pt x="3094483" y="724887"/>
                    <a:pt x="3090943" y="733435"/>
                    <a:pt x="3084640" y="739737"/>
                  </a:cubicBezTo>
                  <a:cubicBezTo>
                    <a:pt x="3078338" y="746039"/>
                    <a:pt x="3069791" y="749580"/>
                    <a:pt x="3060878" y="749580"/>
                  </a:cubicBezTo>
                  <a:lnTo>
                    <a:pt x="33605" y="749580"/>
                  </a:lnTo>
                  <a:cubicBezTo>
                    <a:pt x="24692" y="749580"/>
                    <a:pt x="16145" y="746039"/>
                    <a:pt x="9843" y="739737"/>
                  </a:cubicBezTo>
                  <a:cubicBezTo>
                    <a:pt x="3541" y="733435"/>
                    <a:pt x="0" y="724887"/>
                    <a:pt x="0" y="715975"/>
                  </a:cubicBezTo>
                  <a:lnTo>
                    <a:pt x="0" y="33605"/>
                  </a:lnTo>
                  <a:cubicBezTo>
                    <a:pt x="0" y="24692"/>
                    <a:pt x="3541" y="16145"/>
                    <a:pt x="9843" y="9843"/>
                  </a:cubicBezTo>
                  <a:cubicBezTo>
                    <a:pt x="16145" y="3541"/>
                    <a:pt x="24692" y="0"/>
                    <a:pt x="33605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94483" cy="787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07767" y="6157272"/>
            <a:ext cx="11749365" cy="3483225"/>
            <a:chOff x="0" y="0"/>
            <a:chExt cx="3094483" cy="91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94483" cy="917393"/>
            </a:xfrm>
            <a:custGeom>
              <a:avLst/>
              <a:gdLst/>
              <a:ahLst/>
              <a:cxnLst/>
              <a:rect r="r" b="b" t="t" l="l"/>
              <a:pathLst>
                <a:path h="917393" w="3094483">
                  <a:moveTo>
                    <a:pt x="33605" y="0"/>
                  </a:moveTo>
                  <a:lnTo>
                    <a:pt x="3060878" y="0"/>
                  </a:lnTo>
                  <a:cubicBezTo>
                    <a:pt x="3069791" y="0"/>
                    <a:pt x="3078338" y="3541"/>
                    <a:pt x="3084640" y="9843"/>
                  </a:cubicBezTo>
                  <a:cubicBezTo>
                    <a:pt x="3090943" y="16145"/>
                    <a:pt x="3094483" y="24692"/>
                    <a:pt x="3094483" y="33605"/>
                  </a:cubicBezTo>
                  <a:lnTo>
                    <a:pt x="3094483" y="883788"/>
                  </a:lnTo>
                  <a:cubicBezTo>
                    <a:pt x="3094483" y="892700"/>
                    <a:pt x="3090943" y="901248"/>
                    <a:pt x="3084640" y="907550"/>
                  </a:cubicBezTo>
                  <a:cubicBezTo>
                    <a:pt x="3078338" y="913852"/>
                    <a:pt x="3069791" y="917393"/>
                    <a:pt x="3060878" y="917393"/>
                  </a:cubicBezTo>
                  <a:lnTo>
                    <a:pt x="33605" y="917393"/>
                  </a:lnTo>
                  <a:cubicBezTo>
                    <a:pt x="24692" y="917393"/>
                    <a:pt x="16145" y="913852"/>
                    <a:pt x="9843" y="907550"/>
                  </a:cubicBezTo>
                  <a:cubicBezTo>
                    <a:pt x="3541" y="901248"/>
                    <a:pt x="0" y="892700"/>
                    <a:pt x="0" y="883788"/>
                  </a:cubicBezTo>
                  <a:lnTo>
                    <a:pt x="0" y="33605"/>
                  </a:lnTo>
                  <a:cubicBezTo>
                    <a:pt x="0" y="24692"/>
                    <a:pt x="3541" y="16145"/>
                    <a:pt x="9843" y="9843"/>
                  </a:cubicBezTo>
                  <a:cubicBezTo>
                    <a:pt x="16145" y="3541"/>
                    <a:pt x="24692" y="0"/>
                    <a:pt x="33605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094483" cy="955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614628" y="291933"/>
            <a:ext cx="111356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Initial Exploration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86364" y="2263395"/>
            <a:ext cx="10515271" cy="251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Loaded dataset into DataFrame and explored </a:t>
            </a: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 structure, data types,missing values,duplicates. Summary stats &amp; identified early quality issues.</a:t>
            </a:r>
          </a:p>
          <a:p>
            <a:pPr algn="ctr">
              <a:lnSpc>
                <a:spcPts val="508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614628" y="4872666"/>
            <a:ext cx="111356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Info Gathered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24814" y="6270424"/>
            <a:ext cx="10515271" cy="315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Data has 100014 records and 21 columns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Has null values in Ship Mode and Quantity column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Has only 5009 unique order by Order ID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Sales Price and Profit are highly skewed and have very heavy tails i.e more outliers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78299" y="1576539"/>
            <a:ext cx="13013894" cy="2935163"/>
            <a:chOff x="0" y="0"/>
            <a:chExt cx="3427528" cy="7730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7528" cy="773047"/>
            </a:xfrm>
            <a:custGeom>
              <a:avLst/>
              <a:gdLst/>
              <a:ahLst/>
              <a:cxnLst/>
              <a:rect r="r" b="b" t="t" l="l"/>
              <a:pathLst>
                <a:path h="773047" w="3427528">
                  <a:moveTo>
                    <a:pt x="30340" y="0"/>
                  </a:moveTo>
                  <a:lnTo>
                    <a:pt x="3397188" y="0"/>
                  </a:lnTo>
                  <a:cubicBezTo>
                    <a:pt x="3405234" y="0"/>
                    <a:pt x="3412951" y="3196"/>
                    <a:pt x="3418641" y="8886"/>
                  </a:cubicBezTo>
                  <a:cubicBezTo>
                    <a:pt x="3424331" y="14576"/>
                    <a:pt x="3427528" y="22293"/>
                    <a:pt x="3427528" y="30340"/>
                  </a:cubicBezTo>
                  <a:lnTo>
                    <a:pt x="3427528" y="742707"/>
                  </a:lnTo>
                  <a:cubicBezTo>
                    <a:pt x="3427528" y="759463"/>
                    <a:pt x="3413944" y="773047"/>
                    <a:pt x="3397188" y="773047"/>
                  </a:cubicBezTo>
                  <a:lnTo>
                    <a:pt x="30340" y="773047"/>
                  </a:lnTo>
                  <a:cubicBezTo>
                    <a:pt x="22293" y="773047"/>
                    <a:pt x="14576" y="769851"/>
                    <a:pt x="8886" y="764161"/>
                  </a:cubicBezTo>
                  <a:cubicBezTo>
                    <a:pt x="3196" y="758471"/>
                    <a:pt x="0" y="750754"/>
                    <a:pt x="0" y="742707"/>
                  </a:cubicBezTo>
                  <a:lnTo>
                    <a:pt x="0" y="30340"/>
                  </a:lnTo>
                  <a:cubicBezTo>
                    <a:pt x="0" y="22293"/>
                    <a:pt x="3196" y="14576"/>
                    <a:pt x="8886" y="8886"/>
                  </a:cubicBezTo>
                  <a:cubicBezTo>
                    <a:pt x="14576" y="3196"/>
                    <a:pt x="22293" y="0"/>
                    <a:pt x="30340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27528" cy="81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119674" y="154772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Problems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05463" y="1679251"/>
            <a:ext cx="11359566" cy="260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Large number of duplicate records</a:t>
            </a:r>
          </a:p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Inconsistency in Order Date and Ship Date column (format mismatched)</a:t>
            </a:r>
          </a:p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Inconsistency in Order ID and Order Date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57410" y="6244341"/>
            <a:ext cx="14508827" cy="3718108"/>
            <a:chOff x="0" y="0"/>
            <a:chExt cx="3821255" cy="979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21255" cy="979255"/>
            </a:xfrm>
            <a:custGeom>
              <a:avLst/>
              <a:gdLst/>
              <a:ahLst/>
              <a:cxnLst/>
              <a:rect r="r" b="b" t="t" l="l"/>
              <a:pathLst>
                <a:path h="979255" w="3821255">
                  <a:moveTo>
                    <a:pt x="27214" y="0"/>
                  </a:moveTo>
                  <a:lnTo>
                    <a:pt x="3794041" y="0"/>
                  </a:lnTo>
                  <a:cubicBezTo>
                    <a:pt x="3809071" y="0"/>
                    <a:pt x="3821255" y="12184"/>
                    <a:pt x="3821255" y="27214"/>
                  </a:cubicBezTo>
                  <a:lnTo>
                    <a:pt x="3821255" y="952041"/>
                  </a:lnTo>
                  <a:cubicBezTo>
                    <a:pt x="3821255" y="967071"/>
                    <a:pt x="3809071" y="979255"/>
                    <a:pt x="3794041" y="979255"/>
                  </a:cubicBezTo>
                  <a:lnTo>
                    <a:pt x="27214" y="979255"/>
                  </a:lnTo>
                  <a:cubicBezTo>
                    <a:pt x="12184" y="979255"/>
                    <a:pt x="0" y="967071"/>
                    <a:pt x="0" y="952041"/>
                  </a:cubicBezTo>
                  <a:lnTo>
                    <a:pt x="0" y="27214"/>
                  </a:lnTo>
                  <a:cubicBezTo>
                    <a:pt x="0" y="12184"/>
                    <a:pt x="12184" y="0"/>
                    <a:pt x="27214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821255" cy="1017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86054" y="6358641"/>
            <a:ext cx="13345050" cy="402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Handled duplicated by simply removing them. 5005 duplicate records removed.</a:t>
            </a:r>
          </a:p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Converted and Normalized Order Date and Ship Date column to proper format. Created new columns to fix inconsistency</a:t>
            </a:r>
          </a:p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16 rows with Order Date inconsistency fixed.</a:t>
            </a:r>
          </a:p>
          <a:p>
            <a:pPr algn="l">
              <a:lnSpc>
                <a:spcPts val="538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346240" y="4702560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 CLeaning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78299" y="1261042"/>
            <a:ext cx="13033488" cy="2386520"/>
            <a:chOff x="0" y="0"/>
            <a:chExt cx="3432688" cy="6285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32688" cy="628548"/>
            </a:xfrm>
            <a:custGeom>
              <a:avLst/>
              <a:gdLst/>
              <a:ahLst/>
              <a:cxnLst/>
              <a:rect r="r" b="b" t="t" l="l"/>
              <a:pathLst>
                <a:path h="628548" w="3432688">
                  <a:moveTo>
                    <a:pt x="30294" y="0"/>
                  </a:moveTo>
                  <a:lnTo>
                    <a:pt x="3402394" y="0"/>
                  </a:lnTo>
                  <a:cubicBezTo>
                    <a:pt x="3410429" y="0"/>
                    <a:pt x="3418134" y="3192"/>
                    <a:pt x="3423815" y="8873"/>
                  </a:cubicBezTo>
                  <a:cubicBezTo>
                    <a:pt x="3429496" y="14554"/>
                    <a:pt x="3432688" y="22260"/>
                    <a:pt x="3432688" y="30294"/>
                  </a:cubicBezTo>
                  <a:lnTo>
                    <a:pt x="3432688" y="598254"/>
                  </a:lnTo>
                  <a:cubicBezTo>
                    <a:pt x="3432688" y="606289"/>
                    <a:pt x="3429496" y="613994"/>
                    <a:pt x="3423815" y="619675"/>
                  </a:cubicBezTo>
                  <a:cubicBezTo>
                    <a:pt x="3418134" y="625357"/>
                    <a:pt x="3410429" y="628548"/>
                    <a:pt x="3402394" y="628548"/>
                  </a:cubicBezTo>
                  <a:lnTo>
                    <a:pt x="30294" y="628548"/>
                  </a:lnTo>
                  <a:cubicBezTo>
                    <a:pt x="22260" y="628548"/>
                    <a:pt x="14554" y="625357"/>
                    <a:pt x="8873" y="619675"/>
                  </a:cubicBezTo>
                  <a:cubicBezTo>
                    <a:pt x="3192" y="613994"/>
                    <a:pt x="0" y="606289"/>
                    <a:pt x="0" y="598254"/>
                  </a:cubicBezTo>
                  <a:lnTo>
                    <a:pt x="0" y="30294"/>
                  </a:lnTo>
                  <a:cubicBezTo>
                    <a:pt x="0" y="22260"/>
                    <a:pt x="3192" y="14554"/>
                    <a:pt x="8873" y="8873"/>
                  </a:cubicBezTo>
                  <a:cubicBezTo>
                    <a:pt x="14554" y="3192"/>
                    <a:pt x="22260" y="0"/>
                    <a:pt x="30294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32688" cy="666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119674" y="-23564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Problems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05463" y="1418045"/>
            <a:ext cx="11359566" cy="194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Missing values in Ship Mode and Quantity column</a:t>
            </a:r>
          </a:p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Personal Identifiable Information</a:t>
            </a:r>
          </a:p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Improper dtype for Postal Code column.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92683" y="4718446"/>
            <a:ext cx="14900715" cy="5422820"/>
            <a:chOff x="0" y="0"/>
            <a:chExt cx="3924468" cy="1428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4468" cy="1428232"/>
            </a:xfrm>
            <a:custGeom>
              <a:avLst/>
              <a:gdLst/>
              <a:ahLst/>
              <a:cxnLst/>
              <a:rect r="r" b="b" t="t" l="l"/>
              <a:pathLst>
                <a:path h="1428232" w="3924468">
                  <a:moveTo>
                    <a:pt x="26498" y="0"/>
                  </a:moveTo>
                  <a:lnTo>
                    <a:pt x="3897970" y="0"/>
                  </a:lnTo>
                  <a:cubicBezTo>
                    <a:pt x="3904998" y="0"/>
                    <a:pt x="3911738" y="2792"/>
                    <a:pt x="3916707" y="7761"/>
                  </a:cubicBezTo>
                  <a:cubicBezTo>
                    <a:pt x="3921677" y="12730"/>
                    <a:pt x="3924468" y="19470"/>
                    <a:pt x="3924468" y="26498"/>
                  </a:cubicBezTo>
                  <a:lnTo>
                    <a:pt x="3924468" y="1401735"/>
                  </a:lnTo>
                  <a:cubicBezTo>
                    <a:pt x="3924468" y="1408762"/>
                    <a:pt x="3921677" y="1415502"/>
                    <a:pt x="3916707" y="1420471"/>
                  </a:cubicBezTo>
                  <a:cubicBezTo>
                    <a:pt x="3911738" y="1425441"/>
                    <a:pt x="3904998" y="1428232"/>
                    <a:pt x="3897970" y="1428232"/>
                  </a:cubicBezTo>
                  <a:lnTo>
                    <a:pt x="26498" y="1428232"/>
                  </a:lnTo>
                  <a:cubicBezTo>
                    <a:pt x="19470" y="1428232"/>
                    <a:pt x="12730" y="1425441"/>
                    <a:pt x="7761" y="1420471"/>
                  </a:cubicBezTo>
                  <a:cubicBezTo>
                    <a:pt x="2792" y="1415502"/>
                    <a:pt x="0" y="1408762"/>
                    <a:pt x="0" y="1401735"/>
                  </a:cubicBezTo>
                  <a:lnTo>
                    <a:pt x="0" y="26498"/>
                  </a:lnTo>
                  <a:cubicBezTo>
                    <a:pt x="0" y="19470"/>
                    <a:pt x="2792" y="12730"/>
                    <a:pt x="7761" y="7761"/>
                  </a:cubicBezTo>
                  <a:cubicBezTo>
                    <a:pt x="12730" y="2792"/>
                    <a:pt x="19470" y="0"/>
                    <a:pt x="26498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924468" cy="1466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27271" y="4686021"/>
            <a:ext cx="13638966" cy="537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Fixed Ship Date column and created a new column ‘Days to Ship’. Imputed missing values in Ship Mode on basis of average days taken to ship.</a:t>
            </a:r>
          </a:p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Imputed missing value in quantity with median value.</a:t>
            </a:r>
          </a:p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Created a new column ‘Customer Name Masked’, containg only the initials to protect PII</a:t>
            </a:r>
          </a:p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converted Postal Code to Object and padded with zeroes for consistency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14630" y="3515716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 CLeaning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78299" y="2084006"/>
            <a:ext cx="12896327" cy="1955443"/>
            <a:chOff x="0" y="0"/>
            <a:chExt cx="3396564" cy="5150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96564" cy="515014"/>
            </a:xfrm>
            <a:custGeom>
              <a:avLst/>
              <a:gdLst/>
              <a:ahLst/>
              <a:cxnLst/>
              <a:rect r="r" b="b" t="t" l="l"/>
              <a:pathLst>
                <a:path h="515014" w="3396564">
                  <a:moveTo>
                    <a:pt x="30616" y="0"/>
                  </a:moveTo>
                  <a:lnTo>
                    <a:pt x="3365947" y="0"/>
                  </a:lnTo>
                  <a:cubicBezTo>
                    <a:pt x="3374067" y="0"/>
                    <a:pt x="3381855" y="3226"/>
                    <a:pt x="3387596" y="8967"/>
                  </a:cubicBezTo>
                  <a:cubicBezTo>
                    <a:pt x="3393338" y="14709"/>
                    <a:pt x="3396564" y="22496"/>
                    <a:pt x="3396564" y="30616"/>
                  </a:cubicBezTo>
                  <a:lnTo>
                    <a:pt x="3396564" y="484398"/>
                  </a:lnTo>
                  <a:cubicBezTo>
                    <a:pt x="3396564" y="492518"/>
                    <a:pt x="3393338" y="500305"/>
                    <a:pt x="3387596" y="506047"/>
                  </a:cubicBezTo>
                  <a:cubicBezTo>
                    <a:pt x="3381855" y="511788"/>
                    <a:pt x="3374067" y="515014"/>
                    <a:pt x="3365947" y="515014"/>
                  </a:cubicBezTo>
                  <a:lnTo>
                    <a:pt x="30616" y="515014"/>
                  </a:lnTo>
                  <a:cubicBezTo>
                    <a:pt x="13707" y="515014"/>
                    <a:pt x="0" y="501306"/>
                    <a:pt x="0" y="484398"/>
                  </a:cubicBezTo>
                  <a:lnTo>
                    <a:pt x="0" y="30616"/>
                  </a:lnTo>
                  <a:cubicBezTo>
                    <a:pt x="0" y="13707"/>
                    <a:pt x="13707" y="0"/>
                    <a:pt x="3061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96564" cy="553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060891" y="370776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Problems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23029" y="2305208"/>
            <a:ext cx="11359566" cy="194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Inconsistent dtypes</a:t>
            </a:r>
          </a:p>
          <a:p>
            <a:pPr algn="l" marL="734059" indent="-367030" lvl="1">
              <a:lnSpc>
                <a:spcPts val="5235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Inconsistency in categorical data</a:t>
            </a:r>
          </a:p>
          <a:p>
            <a:pPr algn="l">
              <a:lnSpc>
                <a:spcPts val="5235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2337559" y="5896887"/>
            <a:ext cx="14646097" cy="2938253"/>
            <a:chOff x="0" y="0"/>
            <a:chExt cx="3857408" cy="7738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57408" cy="773861"/>
            </a:xfrm>
            <a:custGeom>
              <a:avLst/>
              <a:gdLst/>
              <a:ahLst/>
              <a:cxnLst/>
              <a:rect r="r" b="b" t="t" l="l"/>
              <a:pathLst>
                <a:path h="773861" w="3857408">
                  <a:moveTo>
                    <a:pt x="26959" y="0"/>
                  </a:moveTo>
                  <a:lnTo>
                    <a:pt x="3830450" y="0"/>
                  </a:lnTo>
                  <a:cubicBezTo>
                    <a:pt x="3845339" y="0"/>
                    <a:pt x="3857408" y="12070"/>
                    <a:pt x="3857408" y="26959"/>
                  </a:cubicBezTo>
                  <a:lnTo>
                    <a:pt x="3857408" y="746902"/>
                  </a:lnTo>
                  <a:cubicBezTo>
                    <a:pt x="3857408" y="754052"/>
                    <a:pt x="3854568" y="760909"/>
                    <a:pt x="3849512" y="765965"/>
                  </a:cubicBezTo>
                  <a:cubicBezTo>
                    <a:pt x="3844457" y="771021"/>
                    <a:pt x="3837599" y="773861"/>
                    <a:pt x="3830450" y="773861"/>
                  </a:cubicBezTo>
                  <a:lnTo>
                    <a:pt x="26959" y="773861"/>
                  </a:lnTo>
                  <a:cubicBezTo>
                    <a:pt x="19809" y="773861"/>
                    <a:pt x="12952" y="771021"/>
                    <a:pt x="7896" y="765965"/>
                  </a:cubicBezTo>
                  <a:cubicBezTo>
                    <a:pt x="2840" y="760909"/>
                    <a:pt x="0" y="754052"/>
                    <a:pt x="0" y="746902"/>
                  </a:cubicBezTo>
                  <a:lnTo>
                    <a:pt x="0" y="26959"/>
                  </a:lnTo>
                  <a:cubicBezTo>
                    <a:pt x="0" y="12070"/>
                    <a:pt x="12070" y="0"/>
                    <a:pt x="26959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857408" cy="811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27271" y="5974729"/>
            <a:ext cx="13638966" cy="266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Converted Quantity and Sales Price to appropriate numeric dtypes</a:t>
            </a:r>
          </a:p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Cleaned States column by replacing abbrevations with full state name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95036" y="4292528"/>
            <a:ext cx="8531143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Data CLeaning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10214" y="3365141"/>
            <a:ext cx="12376386" cy="5612516"/>
            <a:chOff x="0" y="0"/>
            <a:chExt cx="3259624" cy="14781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59624" cy="1478194"/>
            </a:xfrm>
            <a:custGeom>
              <a:avLst/>
              <a:gdLst/>
              <a:ahLst/>
              <a:cxnLst/>
              <a:rect r="r" b="b" t="t" l="l"/>
              <a:pathLst>
                <a:path h="1478194" w="3259624">
                  <a:moveTo>
                    <a:pt x="31903" y="0"/>
                  </a:moveTo>
                  <a:lnTo>
                    <a:pt x="3227722" y="0"/>
                  </a:lnTo>
                  <a:cubicBezTo>
                    <a:pt x="3236183" y="0"/>
                    <a:pt x="3244297" y="3361"/>
                    <a:pt x="3250280" y="9344"/>
                  </a:cubicBezTo>
                  <a:cubicBezTo>
                    <a:pt x="3256263" y="15327"/>
                    <a:pt x="3259624" y="23441"/>
                    <a:pt x="3259624" y="31903"/>
                  </a:cubicBezTo>
                  <a:lnTo>
                    <a:pt x="3259624" y="1446291"/>
                  </a:lnTo>
                  <a:cubicBezTo>
                    <a:pt x="3259624" y="1454752"/>
                    <a:pt x="3256263" y="1462867"/>
                    <a:pt x="3250280" y="1468850"/>
                  </a:cubicBezTo>
                  <a:cubicBezTo>
                    <a:pt x="3244297" y="1474832"/>
                    <a:pt x="3236183" y="1478194"/>
                    <a:pt x="3227722" y="1478194"/>
                  </a:cubicBezTo>
                  <a:lnTo>
                    <a:pt x="31903" y="1478194"/>
                  </a:lnTo>
                  <a:cubicBezTo>
                    <a:pt x="23441" y="1478194"/>
                    <a:pt x="15327" y="1474832"/>
                    <a:pt x="9344" y="1468850"/>
                  </a:cubicBezTo>
                  <a:cubicBezTo>
                    <a:pt x="3361" y="1462867"/>
                    <a:pt x="0" y="1454752"/>
                    <a:pt x="0" y="1446291"/>
                  </a:cubicBezTo>
                  <a:lnTo>
                    <a:pt x="0" y="31903"/>
                  </a:lnTo>
                  <a:cubicBezTo>
                    <a:pt x="0" y="23441"/>
                    <a:pt x="3361" y="15327"/>
                    <a:pt x="9344" y="9344"/>
                  </a:cubicBezTo>
                  <a:cubicBezTo>
                    <a:pt x="15327" y="3361"/>
                    <a:pt x="23441" y="0"/>
                    <a:pt x="3190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259624" cy="1516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78428" y="671678"/>
            <a:ext cx="8531143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0957" y="3623151"/>
            <a:ext cx="9894900" cy="123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2"/>
              </a:lnSpc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Created new columns to transform raw data into informative, business-relevant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88438" y="5261150"/>
            <a:ext cx="9894900" cy="315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Original Price (Sales Price / (1 - Discount))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Sales (Sales Price × Quantity)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Profit (Profit × Quantity)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Discount Price (Original Price * Discount)</a:t>
            </a:r>
          </a:p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Discount (Discount Price × Quantity)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35527" y="1576539"/>
            <a:ext cx="11551073" cy="8482853"/>
            <a:chOff x="0" y="0"/>
            <a:chExt cx="3042258" cy="22341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2258" cy="2234167"/>
            </a:xfrm>
            <a:custGeom>
              <a:avLst/>
              <a:gdLst/>
              <a:ahLst/>
              <a:cxnLst/>
              <a:rect r="r" b="b" t="t" l="l"/>
              <a:pathLst>
                <a:path h="2234167" w="3042258">
                  <a:moveTo>
                    <a:pt x="34182" y="0"/>
                  </a:moveTo>
                  <a:lnTo>
                    <a:pt x="3008076" y="0"/>
                  </a:lnTo>
                  <a:cubicBezTo>
                    <a:pt x="3026954" y="0"/>
                    <a:pt x="3042258" y="15304"/>
                    <a:pt x="3042258" y="34182"/>
                  </a:cubicBezTo>
                  <a:lnTo>
                    <a:pt x="3042258" y="2199985"/>
                  </a:lnTo>
                  <a:cubicBezTo>
                    <a:pt x="3042258" y="2218863"/>
                    <a:pt x="3026954" y="2234167"/>
                    <a:pt x="3008076" y="2234167"/>
                  </a:cubicBezTo>
                  <a:lnTo>
                    <a:pt x="34182" y="2234167"/>
                  </a:lnTo>
                  <a:cubicBezTo>
                    <a:pt x="15304" y="2234167"/>
                    <a:pt x="0" y="2218863"/>
                    <a:pt x="0" y="2199985"/>
                  </a:cubicBezTo>
                  <a:lnTo>
                    <a:pt x="0" y="34182"/>
                  </a:lnTo>
                  <a:cubicBezTo>
                    <a:pt x="0" y="15304"/>
                    <a:pt x="15304" y="0"/>
                    <a:pt x="34182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2258" cy="2272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916878" y="291933"/>
            <a:ext cx="9566460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88438" y="1853846"/>
            <a:ext cx="9894900" cy="60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Shipping Urgency (Based on Days to Ship)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87409" y="2499063"/>
            <a:ext cx="6113181" cy="273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Categorizes shipping speed into: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"Immediate" (0 days)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"Urgent" (1–3 days)</a:t>
            </a:r>
          </a:p>
          <a:p>
            <a:pPr algn="l" marL="604523" indent="-302261" lvl="1">
              <a:lnSpc>
                <a:spcPts val="420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"Standard" (more than 3 days)</a:t>
            </a:r>
          </a:p>
          <a:p>
            <a:pPr algn="ctr">
              <a:lnSpc>
                <a:spcPts val="508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588438" y="4921316"/>
            <a:ext cx="9894900" cy="60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Days Since Last Order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87409" y="5559872"/>
            <a:ext cx="6113181" cy="160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4312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Shows the gap between a  current date and customer's previous order.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8438" y="7191567"/>
            <a:ext cx="9894900" cy="60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Customer-Level Aggregates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06622" y="7964867"/>
            <a:ext cx="6058532" cy="209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9118" indent="-299559" lvl="1">
              <a:lnSpc>
                <a:spcPts val="4162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Created a summary dataset with:</a:t>
            </a:r>
          </a:p>
          <a:p>
            <a:pPr algn="l" marL="599118" indent="-299559" lvl="1">
              <a:lnSpc>
                <a:spcPts val="4162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Sales</a:t>
            </a:r>
          </a:p>
          <a:p>
            <a:pPr algn="l" marL="599118" indent="-299559" lvl="1">
              <a:lnSpc>
                <a:spcPts val="4162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Quantity</a:t>
            </a:r>
          </a:p>
          <a:p>
            <a:pPr algn="l" marL="599118" indent="-299559" lvl="1">
              <a:lnSpc>
                <a:spcPts val="4162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Total Discount per Customer ID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8662" y="3968825"/>
            <a:ext cx="7829232" cy="6090567"/>
            <a:chOff x="0" y="0"/>
            <a:chExt cx="2062020" cy="1604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2020" cy="1604100"/>
            </a:xfrm>
            <a:custGeom>
              <a:avLst/>
              <a:gdLst/>
              <a:ahLst/>
              <a:cxnLst/>
              <a:rect r="r" b="b" t="t" l="l"/>
              <a:pathLst>
                <a:path h="1604100" w="2062020">
                  <a:moveTo>
                    <a:pt x="50431" y="0"/>
                  </a:moveTo>
                  <a:lnTo>
                    <a:pt x="2011589" y="0"/>
                  </a:lnTo>
                  <a:cubicBezTo>
                    <a:pt x="2024964" y="0"/>
                    <a:pt x="2037792" y="5313"/>
                    <a:pt x="2047249" y="14771"/>
                  </a:cubicBezTo>
                  <a:cubicBezTo>
                    <a:pt x="2056707" y="24229"/>
                    <a:pt x="2062020" y="37056"/>
                    <a:pt x="2062020" y="50431"/>
                  </a:cubicBezTo>
                  <a:lnTo>
                    <a:pt x="2062020" y="1553669"/>
                  </a:lnTo>
                  <a:cubicBezTo>
                    <a:pt x="2062020" y="1567044"/>
                    <a:pt x="2056707" y="1579871"/>
                    <a:pt x="2047249" y="1589329"/>
                  </a:cubicBezTo>
                  <a:cubicBezTo>
                    <a:pt x="2037792" y="1598787"/>
                    <a:pt x="2024964" y="1604100"/>
                    <a:pt x="2011589" y="1604100"/>
                  </a:cubicBezTo>
                  <a:lnTo>
                    <a:pt x="50431" y="1604100"/>
                  </a:lnTo>
                  <a:cubicBezTo>
                    <a:pt x="37056" y="1604100"/>
                    <a:pt x="24229" y="1598787"/>
                    <a:pt x="14771" y="1589329"/>
                  </a:cubicBezTo>
                  <a:cubicBezTo>
                    <a:pt x="5313" y="1579871"/>
                    <a:pt x="0" y="1567044"/>
                    <a:pt x="0" y="1553669"/>
                  </a:cubicBezTo>
                  <a:lnTo>
                    <a:pt x="0" y="50431"/>
                  </a:lnTo>
                  <a:cubicBezTo>
                    <a:pt x="0" y="37056"/>
                    <a:pt x="5313" y="24229"/>
                    <a:pt x="14771" y="14771"/>
                  </a:cubicBezTo>
                  <a:cubicBezTo>
                    <a:pt x="24229" y="5313"/>
                    <a:pt x="37056" y="0"/>
                    <a:pt x="5043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62020" cy="164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228757" y="2756176"/>
            <a:ext cx="7830486" cy="964999"/>
            <a:chOff x="0" y="0"/>
            <a:chExt cx="2062350" cy="2541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2350" cy="254156"/>
            </a:xfrm>
            <a:custGeom>
              <a:avLst/>
              <a:gdLst/>
              <a:ahLst/>
              <a:cxnLst/>
              <a:rect r="r" b="b" t="t" l="l"/>
              <a:pathLst>
                <a:path h="254156" w="2062350">
                  <a:moveTo>
                    <a:pt x="50423" y="0"/>
                  </a:moveTo>
                  <a:lnTo>
                    <a:pt x="2011927" y="0"/>
                  </a:lnTo>
                  <a:cubicBezTo>
                    <a:pt x="2039775" y="0"/>
                    <a:pt x="2062350" y="22575"/>
                    <a:pt x="2062350" y="50423"/>
                  </a:cubicBezTo>
                  <a:lnTo>
                    <a:pt x="2062350" y="203733"/>
                  </a:lnTo>
                  <a:cubicBezTo>
                    <a:pt x="2062350" y="231581"/>
                    <a:pt x="2039775" y="254156"/>
                    <a:pt x="2011927" y="254156"/>
                  </a:cubicBezTo>
                  <a:lnTo>
                    <a:pt x="50423" y="254156"/>
                  </a:lnTo>
                  <a:cubicBezTo>
                    <a:pt x="22575" y="254156"/>
                    <a:pt x="0" y="231581"/>
                    <a:pt x="0" y="203733"/>
                  </a:cubicBezTo>
                  <a:lnTo>
                    <a:pt x="0" y="50423"/>
                  </a:lnTo>
                  <a:cubicBezTo>
                    <a:pt x="0" y="22575"/>
                    <a:pt x="22575" y="0"/>
                    <a:pt x="5042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62350" cy="292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508883" y="4241270"/>
            <a:ext cx="6451385" cy="5644962"/>
          </a:xfrm>
          <a:custGeom>
            <a:avLst/>
            <a:gdLst/>
            <a:ahLst/>
            <a:cxnLst/>
            <a:rect r="r" b="b" t="t" l="l"/>
            <a:pathLst>
              <a:path h="5644962" w="6451385">
                <a:moveTo>
                  <a:pt x="0" y="0"/>
                </a:moveTo>
                <a:lnTo>
                  <a:pt x="6451385" y="0"/>
                </a:lnTo>
                <a:lnTo>
                  <a:pt x="6451385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649363" y="3968825"/>
            <a:ext cx="7829232" cy="6090567"/>
            <a:chOff x="0" y="0"/>
            <a:chExt cx="2062020" cy="1604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2020" cy="1604100"/>
            </a:xfrm>
            <a:custGeom>
              <a:avLst/>
              <a:gdLst/>
              <a:ahLst/>
              <a:cxnLst/>
              <a:rect r="r" b="b" t="t" l="l"/>
              <a:pathLst>
                <a:path h="1604100" w="2062020">
                  <a:moveTo>
                    <a:pt x="50431" y="0"/>
                  </a:moveTo>
                  <a:lnTo>
                    <a:pt x="2011589" y="0"/>
                  </a:lnTo>
                  <a:cubicBezTo>
                    <a:pt x="2024964" y="0"/>
                    <a:pt x="2037792" y="5313"/>
                    <a:pt x="2047249" y="14771"/>
                  </a:cubicBezTo>
                  <a:cubicBezTo>
                    <a:pt x="2056707" y="24229"/>
                    <a:pt x="2062020" y="37056"/>
                    <a:pt x="2062020" y="50431"/>
                  </a:cubicBezTo>
                  <a:lnTo>
                    <a:pt x="2062020" y="1553669"/>
                  </a:lnTo>
                  <a:cubicBezTo>
                    <a:pt x="2062020" y="1567044"/>
                    <a:pt x="2056707" y="1579871"/>
                    <a:pt x="2047249" y="1589329"/>
                  </a:cubicBezTo>
                  <a:cubicBezTo>
                    <a:pt x="2037792" y="1598787"/>
                    <a:pt x="2024964" y="1604100"/>
                    <a:pt x="2011589" y="1604100"/>
                  </a:cubicBezTo>
                  <a:lnTo>
                    <a:pt x="50431" y="1604100"/>
                  </a:lnTo>
                  <a:cubicBezTo>
                    <a:pt x="37056" y="1604100"/>
                    <a:pt x="24229" y="1598787"/>
                    <a:pt x="14771" y="1589329"/>
                  </a:cubicBezTo>
                  <a:cubicBezTo>
                    <a:pt x="5313" y="1579871"/>
                    <a:pt x="0" y="1567044"/>
                    <a:pt x="0" y="1553669"/>
                  </a:cubicBezTo>
                  <a:lnTo>
                    <a:pt x="0" y="50431"/>
                  </a:lnTo>
                  <a:cubicBezTo>
                    <a:pt x="0" y="37056"/>
                    <a:pt x="5313" y="24229"/>
                    <a:pt x="14771" y="14771"/>
                  </a:cubicBezTo>
                  <a:cubicBezTo>
                    <a:pt x="24229" y="5313"/>
                    <a:pt x="37056" y="0"/>
                    <a:pt x="5043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62020" cy="164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416426" y="4227783"/>
            <a:ext cx="6501011" cy="5644962"/>
          </a:xfrm>
          <a:custGeom>
            <a:avLst/>
            <a:gdLst/>
            <a:ahLst/>
            <a:cxnLst/>
            <a:rect r="r" b="b" t="t" l="l"/>
            <a:pathLst>
              <a:path h="5644962" w="6501011">
                <a:moveTo>
                  <a:pt x="0" y="0"/>
                </a:moveTo>
                <a:lnTo>
                  <a:pt x="6501011" y="0"/>
                </a:lnTo>
                <a:lnTo>
                  <a:pt x="6501011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32835" y="353060"/>
            <a:ext cx="8531143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Outlier Detection and Handling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96550" y="2844911"/>
            <a:ext cx="98949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3"/>
              </a:lnSpc>
            </a:pPr>
            <a:r>
              <a:rPr lang="en-US" b="true" sz="3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Initial Distributions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8662" y="3968825"/>
            <a:ext cx="7829232" cy="6090567"/>
            <a:chOff x="0" y="0"/>
            <a:chExt cx="2062020" cy="1604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62020" cy="1604100"/>
            </a:xfrm>
            <a:custGeom>
              <a:avLst/>
              <a:gdLst/>
              <a:ahLst/>
              <a:cxnLst/>
              <a:rect r="r" b="b" t="t" l="l"/>
              <a:pathLst>
                <a:path h="1604100" w="2062020">
                  <a:moveTo>
                    <a:pt x="50431" y="0"/>
                  </a:moveTo>
                  <a:lnTo>
                    <a:pt x="2011589" y="0"/>
                  </a:lnTo>
                  <a:cubicBezTo>
                    <a:pt x="2024964" y="0"/>
                    <a:pt x="2037792" y="5313"/>
                    <a:pt x="2047249" y="14771"/>
                  </a:cubicBezTo>
                  <a:cubicBezTo>
                    <a:pt x="2056707" y="24229"/>
                    <a:pt x="2062020" y="37056"/>
                    <a:pt x="2062020" y="50431"/>
                  </a:cubicBezTo>
                  <a:lnTo>
                    <a:pt x="2062020" y="1553669"/>
                  </a:lnTo>
                  <a:cubicBezTo>
                    <a:pt x="2062020" y="1567044"/>
                    <a:pt x="2056707" y="1579871"/>
                    <a:pt x="2047249" y="1589329"/>
                  </a:cubicBezTo>
                  <a:cubicBezTo>
                    <a:pt x="2037792" y="1598787"/>
                    <a:pt x="2024964" y="1604100"/>
                    <a:pt x="2011589" y="1604100"/>
                  </a:cubicBezTo>
                  <a:lnTo>
                    <a:pt x="50431" y="1604100"/>
                  </a:lnTo>
                  <a:cubicBezTo>
                    <a:pt x="37056" y="1604100"/>
                    <a:pt x="24229" y="1598787"/>
                    <a:pt x="14771" y="1589329"/>
                  </a:cubicBezTo>
                  <a:cubicBezTo>
                    <a:pt x="5313" y="1579871"/>
                    <a:pt x="0" y="1567044"/>
                    <a:pt x="0" y="1553669"/>
                  </a:cubicBezTo>
                  <a:lnTo>
                    <a:pt x="0" y="50431"/>
                  </a:lnTo>
                  <a:cubicBezTo>
                    <a:pt x="0" y="37056"/>
                    <a:pt x="5313" y="24229"/>
                    <a:pt x="14771" y="14771"/>
                  </a:cubicBezTo>
                  <a:cubicBezTo>
                    <a:pt x="24229" y="5313"/>
                    <a:pt x="37056" y="0"/>
                    <a:pt x="5043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62020" cy="164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228757" y="2756176"/>
            <a:ext cx="7830486" cy="964999"/>
            <a:chOff x="0" y="0"/>
            <a:chExt cx="2062350" cy="2541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2350" cy="254156"/>
            </a:xfrm>
            <a:custGeom>
              <a:avLst/>
              <a:gdLst/>
              <a:ahLst/>
              <a:cxnLst/>
              <a:rect r="r" b="b" t="t" l="l"/>
              <a:pathLst>
                <a:path h="254156" w="2062350">
                  <a:moveTo>
                    <a:pt x="50423" y="0"/>
                  </a:moveTo>
                  <a:lnTo>
                    <a:pt x="2011927" y="0"/>
                  </a:lnTo>
                  <a:cubicBezTo>
                    <a:pt x="2039775" y="0"/>
                    <a:pt x="2062350" y="22575"/>
                    <a:pt x="2062350" y="50423"/>
                  </a:cubicBezTo>
                  <a:lnTo>
                    <a:pt x="2062350" y="203733"/>
                  </a:lnTo>
                  <a:cubicBezTo>
                    <a:pt x="2062350" y="231581"/>
                    <a:pt x="2039775" y="254156"/>
                    <a:pt x="2011927" y="254156"/>
                  </a:cubicBezTo>
                  <a:lnTo>
                    <a:pt x="50423" y="254156"/>
                  </a:lnTo>
                  <a:cubicBezTo>
                    <a:pt x="22575" y="254156"/>
                    <a:pt x="0" y="231581"/>
                    <a:pt x="0" y="203733"/>
                  </a:cubicBezTo>
                  <a:lnTo>
                    <a:pt x="0" y="50423"/>
                  </a:lnTo>
                  <a:cubicBezTo>
                    <a:pt x="0" y="22575"/>
                    <a:pt x="22575" y="0"/>
                    <a:pt x="50423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62350" cy="292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49363" y="3968825"/>
            <a:ext cx="7829232" cy="6090567"/>
            <a:chOff x="0" y="0"/>
            <a:chExt cx="2062020" cy="1604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2020" cy="1604100"/>
            </a:xfrm>
            <a:custGeom>
              <a:avLst/>
              <a:gdLst/>
              <a:ahLst/>
              <a:cxnLst/>
              <a:rect r="r" b="b" t="t" l="l"/>
              <a:pathLst>
                <a:path h="1604100" w="2062020">
                  <a:moveTo>
                    <a:pt x="50431" y="0"/>
                  </a:moveTo>
                  <a:lnTo>
                    <a:pt x="2011589" y="0"/>
                  </a:lnTo>
                  <a:cubicBezTo>
                    <a:pt x="2024964" y="0"/>
                    <a:pt x="2037792" y="5313"/>
                    <a:pt x="2047249" y="14771"/>
                  </a:cubicBezTo>
                  <a:cubicBezTo>
                    <a:pt x="2056707" y="24229"/>
                    <a:pt x="2062020" y="37056"/>
                    <a:pt x="2062020" y="50431"/>
                  </a:cubicBezTo>
                  <a:lnTo>
                    <a:pt x="2062020" y="1553669"/>
                  </a:lnTo>
                  <a:cubicBezTo>
                    <a:pt x="2062020" y="1567044"/>
                    <a:pt x="2056707" y="1579871"/>
                    <a:pt x="2047249" y="1589329"/>
                  </a:cubicBezTo>
                  <a:cubicBezTo>
                    <a:pt x="2037792" y="1598787"/>
                    <a:pt x="2024964" y="1604100"/>
                    <a:pt x="2011589" y="1604100"/>
                  </a:cubicBezTo>
                  <a:lnTo>
                    <a:pt x="50431" y="1604100"/>
                  </a:lnTo>
                  <a:cubicBezTo>
                    <a:pt x="37056" y="1604100"/>
                    <a:pt x="24229" y="1598787"/>
                    <a:pt x="14771" y="1589329"/>
                  </a:cubicBezTo>
                  <a:cubicBezTo>
                    <a:pt x="5313" y="1579871"/>
                    <a:pt x="0" y="1567044"/>
                    <a:pt x="0" y="1553669"/>
                  </a:cubicBezTo>
                  <a:lnTo>
                    <a:pt x="0" y="50431"/>
                  </a:lnTo>
                  <a:cubicBezTo>
                    <a:pt x="0" y="37056"/>
                    <a:pt x="5313" y="24229"/>
                    <a:pt x="14771" y="14771"/>
                  </a:cubicBezTo>
                  <a:cubicBezTo>
                    <a:pt x="24229" y="5313"/>
                    <a:pt x="37056" y="0"/>
                    <a:pt x="5043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62020" cy="1642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387586" y="4191627"/>
            <a:ext cx="6451385" cy="5644962"/>
          </a:xfrm>
          <a:custGeom>
            <a:avLst/>
            <a:gdLst/>
            <a:ahLst/>
            <a:cxnLst/>
            <a:rect r="r" b="b" t="t" l="l"/>
            <a:pathLst>
              <a:path h="5644962" w="6451385">
                <a:moveTo>
                  <a:pt x="0" y="0"/>
                </a:moveTo>
                <a:lnTo>
                  <a:pt x="6451385" y="0"/>
                </a:lnTo>
                <a:lnTo>
                  <a:pt x="6451385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38286" y="4191627"/>
            <a:ext cx="6451385" cy="5644962"/>
          </a:xfrm>
          <a:custGeom>
            <a:avLst/>
            <a:gdLst/>
            <a:ahLst/>
            <a:cxnLst/>
            <a:rect r="r" b="b" t="t" l="l"/>
            <a:pathLst>
              <a:path h="5644962" w="6451385">
                <a:moveTo>
                  <a:pt x="0" y="0"/>
                </a:moveTo>
                <a:lnTo>
                  <a:pt x="6451385" y="0"/>
                </a:lnTo>
                <a:lnTo>
                  <a:pt x="6451385" y="5644962"/>
                </a:lnTo>
                <a:lnTo>
                  <a:pt x="0" y="564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32835" y="353060"/>
            <a:ext cx="8531143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b="true" sz="800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Handled Outliers with 3 iqr method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96550" y="2844911"/>
            <a:ext cx="98949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3"/>
              </a:lnSpc>
            </a:pPr>
            <a:r>
              <a:rPr lang="en-US" b="true" sz="35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Cleaned Distributions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558423" y="2884761"/>
            <a:ext cx="13904749" cy="1768369"/>
            <a:chOff x="0" y="0"/>
            <a:chExt cx="3662156" cy="4657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62156" cy="465743"/>
            </a:xfrm>
            <a:custGeom>
              <a:avLst/>
              <a:gdLst/>
              <a:ahLst/>
              <a:cxnLst/>
              <a:rect r="r" b="b" t="t" l="l"/>
              <a:pathLst>
                <a:path h="465743" w="3662156">
                  <a:moveTo>
                    <a:pt x="28396" y="0"/>
                  </a:moveTo>
                  <a:lnTo>
                    <a:pt x="3633760" y="0"/>
                  </a:lnTo>
                  <a:cubicBezTo>
                    <a:pt x="3649443" y="0"/>
                    <a:pt x="3662156" y="12713"/>
                    <a:pt x="3662156" y="28396"/>
                  </a:cubicBezTo>
                  <a:lnTo>
                    <a:pt x="3662156" y="437347"/>
                  </a:lnTo>
                  <a:cubicBezTo>
                    <a:pt x="3662156" y="453030"/>
                    <a:pt x="3649443" y="465743"/>
                    <a:pt x="3633760" y="465743"/>
                  </a:cubicBezTo>
                  <a:lnTo>
                    <a:pt x="28396" y="465743"/>
                  </a:lnTo>
                  <a:cubicBezTo>
                    <a:pt x="12713" y="465743"/>
                    <a:pt x="0" y="453030"/>
                    <a:pt x="0" y="437347"/>
                  </a:cubicBezTo>
                  <a:lnTo>
                    <a:pt x="0" y="28396"/>
                  </a:lnTo>
                  <a:cubicBezTo>
                    <a:pt x="0" y="12713"/>
                    <a:pt x="12713" y="0"/>
                    <a:pt x="283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62156" cy="503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10214" y="330227"/>
            <a:ext cx="11176387" cy="345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Customer Segmentation and Analysis</a:t>
            </a:r>
          </a:p>
          <a:p>
            <a:pPr algn="ctr">
              <a:lnSpc>
                <a:spcPts val="856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10214" y="3159973"/>
            <a:ext cx="12820761" cy="1093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6"/>
              </a:lnSpc>
            </a:pPr>
            <a:r>
              <a:rPr lang="en-US" b="true" sz="29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</a:t>
            </a:r>
            <a:r>
              <a:rPr lang="en-US" b="true" sz="29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egmenting customers using sales and profit quintiles helps identify high-value customers, inefficient spenders, and untapped opportunities.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98662" y="4890138"/>
            <a:ext cx="7829232" cy="5169253"/>
            <a:chOff x="0" y="0"/>
            <a:chExt cx="2062020" cy="13614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62020" cy="1361449"/>
            </a:xfrm>
            <a:custGeom>
              <a:avLst/>
              <a:gdLst/>
              <a:ahLst/>
              <a:cxnLst/>
              <a:rect r="r" b="b" t="t" l="l"/>
              <a:pathLst>
                <a:path h="1361449" w="2062020">
                  <a:moveTo>
                    <a:pt x="50431" y="0"/>
                  </a:moveTo>
                  <a:lnTo>
                    <a:pt x="2011589" y="0"/>
                  </a:lnTo>
                  <a:cubicBezTo>
                    <a:pt x="2024964" y="0"/>
                    <a:pt x="2037792" y="5313"/>
                    <a:pt x="2047249" y="14771"/>
                  </a:cubicBezTo>
                  <a:cubicBezTo>
                    <a:pt x="2056707" y="24229"/>
                    <a:pt x="2062020" y="37056"/>
                    <a:pt x="2062020" y="50431"/>
                  </a:cubicBezTo>
                  <a:lnTo>
                    <a:pt x="2062020" y="1311018"/>
                  </a:lnTo>
                  <a:cubicBezTo>
                    <a:pt x="2062020" y="1324393"/>
                    <a:pt x="2056707" y="1337221"/>
                    <a:pt x="2047249" y="1346678"/>
                  </a:cubicBezTo>
                  <a:cubicBezTo>
                    <a:pt x="2037792" y="1356136"/>
                    <a:pt x="2024964" y="1361449"/>
                    <a:pt x="2011589" y="1361449"/>
                  </a:cubicBezTo>
                  <a:lnTo>
                    <a:pt x="50431" y="1361449"/>
                  </a:lnTo>
                  <a:cubicBezTo>
                    <a:pt x="37056" y="1361449"/>
                    <a:pt x="24229" y="1356136"/>
                    <a:pt x="14771" y="1346678"/>
                  </a:cubicBezTo>
                  <a:cubicBezTo>
                    <a:pt x="5313" y="1337221"/>
                    <a:pt x="0" y="1324393"/>
                    <a:pt x="0" y="1311018"/>
                  </a:cubicBezTo>
                  <a:lnTo>
                    <a:pt x="0" y="50431"/>
                  </a:lnTo>
                  <a:cubicBezTo>
                    <a:pt x="0" y="37056"/>
                    <a:pt x="5313" y="24229"/>
                    <a:pt x="14771" y="14771"/>
                  </a:cubicBezTo>
                  <a:cubicBezTo>
                    <a:pt x="24229" y="5313"/>
                    <a:pt x="37056" y="0"/>
                    <a:pt x="5043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62020" cy="1399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26139" y="5695946"/>
            <a:ext cx="5276919" cy="53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466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Cr</a:t>
            </a:r>
            <a:r>
              <a:rPr lang="en-US" b="true" sz="29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eated Two Segments: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58423" y="6494775"/>
            <a:ext cx="6393527" cy="221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466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Customer Sal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 Quintile → Based on total sales per customer</a:t>
            </a:r>
          </a:p>
          <a:p>
            <a:pPr algn="l" marL="626112" indent="-313056" lvl="1">
              <a:lnSpc>
                <a:spcPts val="4466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Customer Profit Quintile → Based on total profit per customer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14768" y="4890138"/>
            <a:ext cx="7829232" cy="5169253"/>
            <a:chOff x="0" y="0"/>
            <a:chExt cx="2062020" cy="13614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2020" cy="1361449"/>
            </a:xfrm>
            <a:custGeom>
              <a:avLst/>
              <a:gdLst/>
              <a:ahLst/>
              <a:cxnLst/>
              <a:rect r="r" b="b" t="t" l="l"/>
              <a:pathLst>
                <a:path h="1361449" w="2062020">
                  <a:moveTo>
                    <a:pt x="50431" y="0"/>
                  </a:moveTo>
                  <a:lnTo>
                    <a:pt x="2011589" y="0"/>
                  </a:lnTo>
                  <a:cubicBezTo>
                    <a:pt x="2024964" y="0"/>
                    <a:pt x="2037792" y="5313"/>
                    <a:pt x="2047249" y="14771"/>
                  </a:cubicBezTo>
                  <a:cubicBezTo>
                    <a:pt x="2056707" y="24229"/>
                    <a:pt x="2062020" y="37056"/>
                    <a:pt x="2062020" y="50431"/>
                  </a:cubicBezTo>
                  <a:lnTo>
                    <a:pt x="2062020" y="1311018"/>
                  </a:lnTo>
                  <a:cubicBezTo>
                    <a:pt x="2062020" y="1324393"/>
                    <a:pt x="2056707" y="1337221"/>
                    <a:pt x="2047249" y="1346678"/>
                  </a:cubicBezTo>
                  <a:cubicBezTo>
                    <a:pt x="2037792" y="1356136"/>
                    <a:pt x="2024964" y="1361449"/>
                    <a:pt x="2011589" y="1361449"/>
                  </a:cubicBezTo>
                  <a:lnTo>
                    <a:pt x="50431" y="1361449"/>
                  </a:lnTo>
                  <a:cubicBezTo>
                    <a:pt x="37056" y="1361449"/>
                    <a:pt x="24229" y="1356136"/>
                    <a:pt x="14771" y="1346678"/>
                  </a:cubicBezTo>
                  <a:cubicBezTo>
                    <a:pt x="5313" y="1337221"/>
                    <a:pt x="0" y="1324393"/>
                    <a:pt x="0" y="1311018"/>
                  </a:cubicBezTo>
                  <a:lnTo>
                    <a:pt x="0" y="50431"/>
                  </a:lnTo>
                  <a:cubicBezTo>
                    <a:pt x="0" y="37056"/>
                    <a:pt x="5313" y="24229"/>
                    <a:pt x="14771" y="14771"/>
                  </a:cubicBezTo>
                  <a:cubicBezTo>
                    <a:pt x="24229" y="5313"/>
                    <a:pt x="37056" y="0"/>
                    <a:pt x="5043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62020" cy="1399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09681" y="5048250"/>
            <a:ext cx="5276919" cy="53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466"/>
              </a:lnSpc>
              <a:buFont typeface="Arial"/>
              <a:buChar char="•"/>
            </a:pPr>
            <a:r>
              <a:rPr lang="en-US" b="true" sz="29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Cr</a:t>
            </a:r>
            <a:r>
              <a:rPr lang="en-US" b="true" sz="29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eated Cross-Tab Grid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28612" y="5705471"/>
            <a:ext cx="6393527" cy="416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Combined both</a:t>
            </a: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quintiles to form a matrix of customer types.</a:t>
            </a:r>
          </a:p>
          <a:p>
            <a:pPr algn="l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→ Helped identify:</a:t>
            </a:r>
          </a:p>
          <a:p>
            <a:pPr algn="l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Top performers: Q5 Sales &amp; Q5 Profit</a:t>
            </a:r>
          </a:p>
          <a:p>
            <a:pPr algn="l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High spenders, low profit: Q5 Sales &amp; Q1–Q2 Profit</a:t>
            </a:r>
          </a:p>
          <a:p>
            <a:pPr algn="l" marL="582933" indent="-291467" lvl="1">
              <a:lnSpc>
                <a:spcPts val="4158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Low spenders, high profit: Q1–Q2 Sales &amp; Q5 Profit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5437" y="2978438"/>
            <a:ext cx="8678563" cy="957510"/>
            <a:chOff x="0" y="0"/>
            <a:chExt cx="2285712" cy="25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19025" y="4374099"/>
            <a:ext cx="8624975" cy="5322614"/>
            <a:chOff x="0" y="0"/>
            <a:chExt cx="2271598" cy="14018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1598" cy="1401841"/>
            </a:xfrm>
            <a:custGeom>
              <a:avLst/>
              <a:gdLst/>
              <a:ahLst/>
              <a:cxnLst/>
              <a:rect r="r" b="b" t="t" l="l"/>
              <a:pathLst>
                <a:path h="1401841" w="2271598">
                  <a:moveTo>
                    <a:pt x="45778" y="0"/>
                  </a:moveTo>
                  <a:lnTo>
                    <a:pt x="2225820" y="0"/>
                  </a:lnTo>
                  <a:cubicBezTo>
                    <a:pt x="2251103" y="0"/>
                    <a:pt x="2271598" y="20496"/>
                    <a:pt x="2271598" y="45778"/>
                  </a:cubicBezTo>
                  <a:lnTo>
                    <a:pt x="2271598" y="1356062"/>
                  </a:lnTo>
                  <a:cubicBezTo>
                    <a:pt x="2271598" y="1368204"/>
                    <a:pt x="2266775" y="1379847"/>
                    <a:pt x="2258190" y="1388433"/>
                  </a:cubicBezTo>
                  <a:cubicBezTo>
                    <a:pt x="2249605" y="1397018"/>
                    <a:pt x="2237961" y="1401841"/>
                    <a:pt x="2225820" y="1401841"/>
                  </a:cubicBezTo>
                  <a:lnTo>
                    <a:pt x="45778" y="1401841"/>
                  </a:lnTo>
                  <a:cubicBezTo>
                    <a:pt x="33637" y="1401841"/>
                    <a:pt x="21993" y="1397018"/>
                    <a:pt x="13408" y="1388433"/>
                  </a:cubicBezTo>
                  <a:cubicBezTo>
                    <a:pt x="4823" y="1379847"/>
                    <a:pt x="0" y="1368204"/>
                    <a:pt x="0" y="1356062"/>
                  </a:cubicBezTo>
                  <a:lnTo>
                    <a:pt x="0" y="45778"/>
                  </a:lnTo>
                  <a:cubicBezTo>
                    <a:pt x="0" y="20496"/>
                    <a:pt x="20496" y="0"/>
                    <a:pt x="45778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71598" cy="1439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2494922" y="3236071"/>
            <a:ext cx="4673182" cy="7598670"/>
          </a:xfrm>
          <a:custGeom>
            <a:avLst/>
            <a:gdLst/>
            <a:ahLst/>
            <a:cxnLst/>
            <a:rect r="r" b="b" t="t" l="l"/>
            <a:pathLst>
              <a:path h="7598670" w="4673182">
                <a:moveTo>
                  <a:pt x="0" y="0"/>
                </a:moveTo>
                <a:lnTo>
                  <a:pt x="4673181" y="0"/>
                </a:lnTo>
                <a:lnTo>
                  <a:pt x="4673181" y="7598670"/>
                </a:lnTo>
                <a:lnTo>
                  <a:pt x="0" y="7598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476710" y="2956340"/>
            <a:ext cx="8678563" cy="957510"/>
            <a:chOff x="0" y="0"/>
            <a:chExt cx="2285712" cy="252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76710" y="4374099"/>
            <a:ext cx="8624975" cy="5322614"/>
            <a:chOff x="0" y="0"/>
            <a:chExt cx="2271598" cy="14018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1598" cy="1401841"/>
            </a:xfrm>
            <a:custGeom>
              <a:avLst/>
              <a:gdLst/>
              <a:ahLst/>
              <a:cxnLst/>
              <a:rect r="r" b="b" t="t" l="l"/>
              <a:pathLst>
                <a:path h="1401841" w="2271598">
                  <a:moveTo>
                    <a:pt x="45778" y="0"/>
                  </a:moveTo>
                  <a:lnTo>
                    <a:pt x="2225820" y="0"/>
                  </a:lnTo>
                  <a:cubicBezTo>
                    <a:pt x="2251103" y="0"/>
                    <a:pt x="2271598" y="20496"/>
                    <a:pt x="2271598" y="45778"/>
                  </a:cubicBezTo>
                  <a:lnTo>
                    <a:pt x="2271598" y="1356062"/>
                  </a:lnTo>
                  <a:cubicBezTo>
                    <a:pt x="2271598" y="1368204"/>
                    <a:pt x="2266775" y="1379847"/>
                    <a:pt x="2258190" y="1388433"/>
                  </a:cubicBezTo>
                  <a:cubicBezTo>
                    <a:pt x="2249605" y="1397018"/>
                    <a:pt x="2237961" y="1401841"/>
                    <a:pt x="2225820" y="1401841"/>
                  </a:cubicBezTo>
                  <a:lnTo>
                    <a:pt x="45778" y="1401841"/>
                  </a:lnTo>
                  <a:cubicBezTo>
                    <a:pt x="33637" y="1401841"/>
                    <a:pt x="21993" y="1397018"/>
                    <a:pt x="13408" y="1388433"/>
                  </a:cubicBezTo>
                  <a:cubicBezTo>
                    <a:pt x="4823" y="1379847"/>
                    <a:pt x="0" y="1368204"/>
                    <a:pt x="0" y="1356062"/>
                  </a:cubicBezTo>
                  <a:lnTo>
                    <a:pt x="0" y="45778"/>
                  </a:lnTo>
                  <a:cubicBezTo>
                    <a:pt x="0" y="20496"/>
                    <a:pt x="20496" y="0"/>
                    <a:pt x="45778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71598" cy="1439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5400000">
            <a:off x="11452606" y="3315780"/>
            <a:ext cx="4673182" cy="7522224"/>
          </a:xfrm>
          <a:custGeom>
            <a:avLst/>
            <a:gdLst/>
            <a:ahLst/>
            <a:cxnLst/>
            <a:rect r="r" b="b" t="t" l="l"/>
            <a:pathLst>
              <a:path h="7522224" w="4673182">
                <a:moveTo>
                  <a:pt x="0" y="0"/>
                </a:moveTo>
                <a:lnTo>
                  <a:pt x="4673182" y="0"/>
                </a:lnTo>
                <a:lnTo>
                  <a:pt x="4673182" y="7522224"/>
                </a:lnTo>
                <a:lnTo>
                  <a:pt x="0" y="75222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85198" y="353060"/>
            <a:ext cx="10566506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Final Analysis and Business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158" y="3080321"/>
            <a:ext cx="7323121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op 10 Most Profitable Products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4431" y="3089846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op 10 Most Loss-Making Products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5437" y="2978438"/>
            <a:ext cx="8678563" cy="957510"/>
            <a:chOff x="0" y="0"/>
            <a:chExt cx="2285712" cy="25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03784" y="4193124"/>
            <a:ext cx="6775828" cy="5671309"/>
            <a:chOff x="0" y="0"/>
            <a:chExt cx="1784580" cy="149367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4580" cy="1493678"/>
            </a:xfrm>
            <a:custGeom>
              <a:avLst/>
              <a:gdLst/>
              <a:ahLst/>
              <a:cxnLst/>
              <a:rect r="r" b="b" t="t" l="l"/>
              <a:pathLst>
                <a:path h="1493678" w="1784580">
                  <a:moveTo>
                    <a:pt x="58272" y="0"/>
                  </a:moveTo>
                  <a:lnTo>
                    <a:pt x="1726309" y="0"/>
                  </a:lnTo>
                  <a:cubicBezTo>
                    <a:pt x="1741763" y="0"/>
                    <a:pt x="1756585" y="6139"/>
                    <a:pt x="1767513" y="17067"/>
                  </a:cubicBezTo>
                  <a:cubicBezTo>
                    <a:pt x="1778441" y="27995"/>
                    <a:pt x="1784580" y="42817"/>
                    <a:pt x="1784580" y="58272"/>
                  </a:cubicBezTo>
                  <a:lnTo>
                    <a:pt x="1784580" y="1435407"/>
                  </a:lnTo>
                  <a:cubicBezTo>
                    <a:pt x="1784580" y="1450861"/>
                    <a:pt x="1778441" y="1465683"/>
                    <a:pt x="1767513" y="1476611"/>
                  </a:cubicBezTo>
                  <a:cubicBezTo>
                    <a:pt x="1756585" y="1487539"/>
                    <a:pt x="1741763" y="1493678"/>
                    <a:pt x="1726309" y="1493678"/>
                  </a:cubicBezTo>
                  <a:lnTo>
                    <a:pt x="58272" y="1493678"/>
                  </a:lnTo>
                  <a:cubicBezTo>
                    <a:pt x="42817" y="1493678"/>
                    <a:pt x="27995" y="1487539"/>
                    <a:pt x="17067" y="1476611"/>
                  </a:cubicBezTo>
                  <a:cubicBezTo>
                    <a:pt x="6139" y="1465683"/>
                    <a:pt x="0" y="1450861"/>
                    <a:pt x="0" y="1435407"/>
                  </a:cubicBezTo>
                  <a:lnTo>
                    <a:pt x="0" y="58272"/>
                  </a:lnTo>
                  <a:cubicBezTo>
                    <a:pt x="0" y="42817"/>
                    <a:pt x="6139" y="27995"/>
                    <a:pt x="17067" y="17067"/>
                  </a:cubicBezTo>
                  <a:cubicBezTo>
                    <a:pt x="27995" y="6139"/>
                    <a:pt x="42817" y="0"/>
                    <a:pt x="58272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84580" cy="1531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76710" y="2956340"/>
            <a:ext cx="8678563" cy="957510"/>
            <a:chOff x="0" y="0"/>
            <a:chExt cx="2285712" cy="252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16426" y="4193124"/>
            <a:ext cx="6842874" cy="5671309"/>
            <a:chOff x="0" y="0"/>
            <a:chExt cx="1802238" cy="14936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02238" cy="1493678"/>
            </a:xfrm>
            <a:custGeom>
              <a:avLst/>
              <a:gdLst/>
              <a:ahLst/>
              <a:cxnLst/>
              <a:rect r="r" b="b" t="t" l="l"/>
              <a:pathLst>
                <a:path h="1493678" w="1802238">
                  <a:moveTo>
                    <a:pt x="57701" y="0"/>
                  </a:moveTo>
                  <a:lnTo>
                    <a:pt x="1744538" y="0"/>
                  </a:lnTo>
                  <a:cubicBezTo>
                    <a:pt x="1759841" y="0"/>
                    <a:pt x="1774517" y="6079"/>
                    <a:pt x="1785338" y="16900"/>
                  </a:cubicBezTo>
                  <a:cubicBezTo>
                    <a:pt x="1796159" y="27721"/>
                    <a:pt x="1802238" y="42397"/>
                    <a:pt x="1802238" y="57701"/>
                  </a:cubicBezTo>
                  <a:lnTo>
                    <a:pt x="1802238" y="1435978"/>
                  </a:lnTo>
                  <a:cubicBezTo>
                    <a:pt x="1802238" y="1451281"/>
                    <a:pt x="1796159" y="1465957"/>
                    <a:pt x="1785338" y="1476778"/>
                  </a:cubicBezTo>
                  <a:cubicBezTo>
                    <a:pt x="1774517" y="1487599"/>
                    <a:pt x="1759841" y="1493678"/>
                    <a:pt x="1744538" y="1493678"/>
                  </a:cubicBezTo>
                  <a:lnTo>
                    <a:pt x="57701" y="1493678"/>
                  </a:lnTo>
                  <a:cubicBezTo>
                    <a:pt x="42397" y="1493678"/>
                    <a:pt x="27721" y="1487599"/>
                    <a:pt x="16900" y="1476778"/>
                  </a:cubicBezTo>
                  <a:cubicBezTo>
                    <a:pt x="6079" y="1465957"/>
                    <a:pt x="0" y="1451281"/>
                    <a:pt x="0" y="1435978"/>
                  </a:cubicBezTo>
                  <a:lnTo>
                    <a:pt x="0" y="57701"/>
                  </a:lnTo>
                  <a:cubicBezTo>
                    <a:pt x="0" y="42397"/>
                    <a:pt x="6079" y="27721"/>
                    <a:pt x="16900" y="16900"/>
                  </a:cubicBezTo>
                  <a:cubicBezTo>
                    <a:pt x="27721" y="6079"/>
                    <a:pt x="42397" y="0"/>
                    <a:pt x="57701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02238" cy="1531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231241" y="4483768"/>
            <a:ext cx="5146956" cy="5103276"/>
          </a:xfrm>
          <a:custGeom>
            <a:avLst/>
            <a:gdLst/>
            <a:ahLst/>
            <a:cxnLst/>
            <a:rect r="r" b="b" t="t" l="l"/>
            <a:pathLst>
              <a:path h="5103276" w="5146956">
                <a:moveTo>
                  <a:pt x="0" y="0"/>
                </a:moveTo>
                <a:lnTo>
                  <a:pt x="5146956" y="0"/>
                </a:lnTo>
                <a:lnTo>
                  <a:pt x="5146956" y="5103276"/>
                </a:lnTo>
                <a:lnTo>
                  <a:pt x="0" y="5103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00192" y="4483768"/>
            <a:ext cx="5075342" cy="5103276"/>
          </a:xfrm>
          <a:custGeom>
            <a:avLst/>
            <a:gdLst/>
            <a:ahLst/>
            <a:cxnLst/>
            <a:rect r="r" b="b" t="t" l="l"/>
            <a:pathLst>
              <a:path h="5103276" w="5075342">
                <a:moveTo>
                  <a:pt x="0" y="0"/>
                </a:moveTo>
                <a:lnTo>
                  <a:pt x="5075342" y="0"/>
                </a:lnTo>
                <a:lnTo>
                  <a:pt x="5075342" y="5103276"/>
                </a:lnTo>
                <a:lnTo>
                  <a:pt x="0" y="51032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5" t="0" r="-275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85198" y="353060"/>
            <a:ext cx="10566506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Final Analysis and Business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158" y="3080321"/>
            <a:ext cx="7323121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538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Sales</a:t>
            </a: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vs. Profit Correlation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4431" y="3089846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J</a:t>
            </a: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oint Distribution of Sales and Profit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5437" y="2978438"/>
            <a:ext cx="8678563" cy="957510"/>
            <a:chOff x="0" y="0"/>
            <a:chExt cx="2285712" cy="25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158" y="4155024"/>
            <a:ext cx="7156009" cy="5904368"/>
            <a:chOff x="0" y="0"/>
            <a:chExt cx="1884710" cy="1555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4710" cy="1555060"/>
            </a:xfrm>
            <a:custGeom>
              <a:avLst/>
              <a:gdLst/>
              <a:ahLst/>
              <a:cxnLst/>
              <a:rect r="r" b="b" t="t" l="l"/>
              <a:pathLst>
                <a:path h="1555060" w="1884710">
                  <a:moveTo>
                    <a:pt x="55176" y="0"/>
                  </a:moveTo>
                  <a:lnTo>
                    <a:pt x="1829534" y="0"/>
                  </a:lnTo>
                  <a:cubicBezTo>
                    <a:pt x="1844168" y="0"/>
                    <a:pt x="1858202" y="5813"/>
                    <a:pt x="1868550" y="16161"/>
                  </a:cubicBezTo>
                  <a:cubicBezTo>
                    <a:pt x="1878897" y="26508"/>
                    <a:pt x="1884710" y="40542"/>
                    <a:pt x="1884710" y="55176"/>
                  </a:cubicBezTo>
                  <a:lnTo>
                    <a:pt x="1884710" y="1499884"/>
                  </a:lnTo>
                  <a:cubicBezTo>
                    <a:pt x="1884710" y="1530357"/>
                    <a:pt x="1860007" y="1555060"/>
                    <a:pt x="1829534" y="1555060"/>
                  </a:cubicBezTo>
                  <a:lnTo>
                    <a:pt x="55176" y="1555060"/>
                  </a:lnTo>
                  <a:cubicBezTo>
                    <a:pt x="40542" y="1555060"/>
                    <a:pt x="26508" y="1549247"/>
                    <a:pt x="16161" y="1538899"/>
                  </a:cubicBezTo>
                  <a:cubicBezTo>
                    <a:pt x="5813" y="1528552"/>
                    <a:pt x="0" y="1514518"/>
                    <a:pt x="0" y="1499884"/>
                  </a:cubicBezTo>
                  <a:lnTo>
                    <a:pt x="0" y="55176"/>
                  </a:lnTo>
                  <a:cubicBezTo>
                    <a:pt x="0" y="40542"/>
                    <a:pt x="5813" y="26508"/>
                    <a:pt x="16161" y="16161"/>
                  </a:cubicBezTo>
                  <a:cubicBezTo>
                    <a:pt x="26508" y="5813"/>
                    <a:pt x="40542" y="0"/>
                    <a:pt x="5517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84710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76710" y="2956340"/>
            <a:ext cx="8678563" cy="957510"/>
            <a:chOff x="0" y="0"/>
            <a:chExt cx="2285712" cy="252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79190" y="4155024"/>
            <a:ext cx="6980110" cy="5904368"/>
            <a:chOff x="0" y="0"/>
            <a:chExt cx="1838383" cy="1555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38383" cy="1555060"/>
            </a:xfrm>
            <a:custGeom>
              <a:avLst/>
              <a:gdLst/>
              <a:ahLst/>
              <a:cxnLst/>
              <a:rect r="r" b="b" t="t" l="l"/>
              <a:pathLst>
                <a:path h="1555060" w="1838383">
                  <a:moveTo>
                    <a:pt x="56566" y="0"/>
                  </a:moveTo>
                  <a:lnTo>
                    <a:pt x="1781817" y="0"/>
                  </a:lnTo>
                  <a:cubicBezTo>
                    <a:pt x="1796819" y="0"/>
                    <a:pt x="1811207" y="5960"/>
                    <a:pt x="1821815" y="16568"/>
                  </a:cubicBezTo>
                  <a:cubicBezTo>
                    <a:pt x="1832423" y="27176"/>
                    <a:pt x="1838383" y="41564"/>
                    <a:pt x="1838383" y="56566"/>
                  </a:cubicBezTo>
                  <a:lnTo>
                    <a:pt x="1838383" y="1498494"/>
                  </a:lnTo>
                  <a:cubicBezTo>
                    <a:pt x="1838383" y="1513496"/>
                    <a:pt x="1832423" y="1527884"/>
                    <a:pt x="1821815" y="1538492"/>
                  </a:cubicBezTo>
                  <a:cubicBezTo>
                    <a:pt x="1811207" y="1549100"/>
                    <a:pt x="1796819" y="1555060"/>
                    <a:pt x="1781817" y="1555060"/>
                  </a:cubicBezTo>
                  <a:lnTo>
                    <a:pt x="56566" y="1555060"/>
                  </a:lnTo>
                  <a:cubicBezTo>
                    <a:pt x="41564" y="1555060"/>
                    <a:pt x="27176" y="1549100"/>
                    <a:pt x="16568" y="1538492"/>
                  </a:cubicBezTo>
                  <a:cubicBezTo>
                    <a:pt x="5960" y="1527884"/>
                    <a:pt x="0" y="1513496"/>
                    <a:pt x="0" y="1498494"/>
                  </a:cubicBezTo>
                  <a:lnTo>
                    <a:pt x="0" y="56566"/>
                  </a:lnTo>
                  <a:cubicBezTo>
                    <a:pt x="0" y="41564"/>
                    <a:pt x="5960" y="27176"/>
                    <a:pt x="16568" y="16568"/>
                  </a:cubicBezTo>
                  <a:cubicBezTo>
                    <a:pt x="27176" y="5960"/>
                    <a:pt x="41564" y="0"/>
                    <a:pt x="5656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838383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96619" y="4450754"/>
            <a:ext cx="6216199" cy="5312908"/>
          </a:xfrm>
          <a:custGeom>
            <a:avLst/>
            <a:gdLst/>
            <a:ahLst/>
            <a:cxnLst/>
            <a:rect r="r" b="b" t="t" l="l"/>
            <a:pathLst>
              <a:path h="5312908" w="6216199">
                <a:moveTo>
                  <a:pt x="0" y="0"/>
                </a:moveTo>
                <a:lnTo>
                  <a:pt x="6216199" y="0"/>
                </a:lnTo>
                <a:lnTo>
                  <a:pt x="6216199" y="5312908"/>
                </a:lnTo>
                <a:lnTo>
                  <a:pt x="0" y="53129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793487" y="4450754"/>
            <a:ext cx="5966480" cy="5312908"/>
          </a:xfrm>
          <a:custGeom>
            <a:avLst/>
            <a:gdLst/>
            <a:ahLst/>
            <a:cxnLst/>
            <a:rect r="r" b="b" t="t" l="l"/>
            <a:pathLst>
              <a:path h="5312908" w="5966480">
                <a:moveTo>
                  <a:pt x="0" y="0"/>
                </a:moveTo>
                <a:lnTo>
                  <a:pt x="5966480" y="0"/>
                </a:lnTo>
                <a:lnTo>
                  <a:pt x="5966480" y="5312908"/>
                </a:lnTo>
                <a:lnTo>
                  <a:pt x="0" y="53129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85198" y="353060"/>
            <a:ext cx="10566506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Final Analysis and Business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158" y="3251010"/>
            <a:ext cx="7323121" cy="42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5" indent="-248288" lvl="1">
              <a:lnSpc>
                <a:spcPts val="354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Customer Sales</a:t>
            </a:r>
            <a:r>
              <a:rPr lang="en-US" sz="2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Quintile vs. Customer Profit Quintile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4431" y="3089846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Distribution of Shipping Urgency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5437" y="2978438"/>
            <a:ext cx="8678563" cy="957510"/>
            <a:chOff x="0" y="0"/>
            <a:chExt cx="2285712" cy="25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3158" y="4155024"/>
            <a:ext cx="7156009" cy="5904368"/>
            <a:chOff x="0" y="0"/>
            <a:chExt cx="1884710" cy="1555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84710" cy="1555060"/>
            </a:xfrm>
            <a:custGeom>
              <a:avLst/>
              <a:gdLst/>
              <a:ahLst/>
              <a:cxnLst/>
              <a:rect r="r" b="b" t="t" l="l"/>
              <a:pathLst>
                <a:path h="1555060" w="1884710">
                  <a:moveTo>
                    <a:pt x="55176" y="0"/>
                  </a:moveTo>
                  <a:lnTo>
                    <a:pt x="1829534" y="0"/>
                  </a:lnTo>
                  <a:cubicBezTo>
                    <a:pt x="1844168" y="0"/>
                    <a:pt x="1858202" y="5813"/>
                    <a:pt x="1868550" y="16161"/>
                  </a:cubicBezTo>
                  <a:cubicBezTo>
                    <a:pt x="1878897" y="26508"/>
                    <a:pt x="1884710" y="40542"/>
                    <a:pt x="1884710" y="55176"/>
                  </a:cubicBezTo>
                  <a:lnTo>
                    <a:pt x="1884710" y="1499884"/>
                  </a:lnTo>
                  <a:cubicBezTo>
                    <a:pt x="1884710" y="1530357"/>
                    <a:pt x="1860007" y="1555060"/>
                    <a:pt x="1829534" y="1555060"/>
                  </a:cubicBezTo>
                  <a:lnTo>
                    <a:pt x="55176" y="1555060"/>
                  </a:lnTo>
                  <a:cubicBezTo>
                    <a:pt x="40542" y="1555060"/>
                    <a:pt x="26508" y="1549247"/>
                    <a:pt x="16161" y="1538899"/>
                  </a:cubicBezTo>
                  <a:cubicBezTo>
                    <a:pt x="5813" y="1528552"/>
                    <a:pt x="0" y="1514518"/>
                    <a:pt x="0" y="1499884"/>
                  </a:cubicBezTo>
                  <a:lnTo>
                    <a:pt x="0" y="55176"/>
                  </a:lnTo>
                  <a:cubicBezTo>
                    <a:pt x="0" y="40542"/>
                    <a:pt x="5813" y="26508"/>
                    <a:pt x="16161" y="16161"/>
                  </a:cubicBezTo>
                  <a:cubicBezTo>
                    <a:pt x="26508" y="5813"/>
                    <a:pt x="40542" y="0"/>
                    <a:pt x="5517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84710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76710" y="2956340"/>
            <a:ext cx="8678563" cy="957510"/>
            <a:chOff x="0" y="0"/>
            <a:chExt cx="2285712" cy="252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79190" y="4155024"/>
            <a:ext cx="7264810" cy="5904368"/>
            <a:chOff x="0" y="0"/>
            <a:chExt cx="1913366" cy="1555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13366" cy="1555060"/>
            </a:xfrm>
            <a:custGeom>
              <a:avLst/>
              <a:gdLst/>
              <a:ahLst/>
              <a:cxnLst/>
              <a:rect r="r" b="b" t="t" l="l"/>
              <a:pathLst>
                <a:path h="1555060" w="1913366">
                  <a:moveTo>
                    <a:pt x="54349" y="0"/>
                  </a:moveTo>
                  <a:lnTo>
                    <a:pt x="1859016" y="0"/>
                  </a:lnTo>
                  <a:cubicBezTo>
                    <a:pt x="1873431" y="0"/>
                    <a:pt x="1887255" y="5726"/>
                    <a:pt x="1897447" y="15919"/>
                  </a:cubicBezTo>
                  <a:cubicBezTo>
                    <a:pt x="1907640" y="26111"/>
                    <a:pt x="1913366" y="39935"/>
                    <a:pt x="1913366" y="54349"/>
                  </a:cubicBezTo>
                  <a:lnTo>
                    <a:pt x="1913366" y="1500710"/>
                  </a:lnTo>
                  <a:cubicBezTo>
                    <a:pt x="1913366" y="1530727"/>
                    <a:pt x="1889033" y="1555060"/>
                    <a:pt x="1859016" y="1555060"/>
                  </a:cubicBezTo>
                  <a:lnTo>
                    <a:pt x="54349" y="1555060"/>
                  </a:lnTo>
                  <a:cubicBezTo>
                    <a:pt x="24333" y="1555060"/>
                    <a:pt x="0" y="1530727"/>
                    <a:pt x="0" y="1500710"/>
                  </a:cubicBezTo>
                  <a:lnTo>
                    <a:pt x="0" y="54349"/>
                  </a:lnTo>
                  <a:cubicBezTo>
                    <a:pt x="0" y="24333"/>
                    <a:pt x="24333" y="0"/>
                    <a:pt x="54349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13366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11058" y="4560421"/>
            <a:ext cx="6820209" cy="5093574"/>
          </a:xfrm>
          <a:custGeom>
            <a:avLst/>
            <a:gdLst/>
            <a:ahLst/>
            <a:cxnLst/>
            <a:rect r="r" b="b" t="t" l="l"/>
            <a:pathLst>
              <a:path h="5093574" w="6820209">
                <a:moveTo>
                  <a:pt x="0" y="0"/>
                </a:moveTo>
                <a:lnTo>
                  <a:pt x="6820209" y="0"/>
                </a:lnTo>
                <a:lnTo>
                  <a:pt x="6820209" y="5093574"/>
                </a:lnTo>
                <a:lnTo>
                  <a:pt x="0" y="50935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74552" y="4511702"/>
            <a:ext cx="6892861" cy="5142293"/>
          </a:xfrm>
          <a:custGeom>
            <a:avLst/>
            <a:gdLst/>
            <a:ahLst/>
            <a:cxnLst/>
            <a:rect r="r" b="b" t="t" l="l"/>
            <a:pathLst>
              <a:path h="5142293" w="6892861">
                <a:moveTo>
                  <a:pt x="0" y="0"/>
                </a:moveTo>
                <a:lnTo>
                  <a:pt x="6892861" y="0"/>
                </a:lnTo>
                <a:lnTo>
                  <a:pt x="6892861" y="5142293"/>
                </a:lnTo>
                <a:lnTo>
                  <a:pt x="0" y="51422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85198" y="353060"/>
            <a:ext cx="10566506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Final Analysis and Business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5330" y="3111944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Days to Sh</a:t>
            </a: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ip vs. Profit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4431" y="3089846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Shipping Mode and Profitability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5437" y="2978438"/>
            <a:ext cx="8678563" cy="957510"/>
            <a:chOff x="0" y="0"/>
            <a:chExt cx="2285712" cy="25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5437" y="4155024"/>
            <a:ext cx="8403014" cy="5904368"/>
            <a:chOff x="0" y="0"/>
            <a:chExt cx="2213139" cy="1555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3140" cy="1555060"/>
            </a:xfrm>
            <a:custGeom>
              <a:avLst/>
              <a:gdLst/>
              <a:ahLst/>
              <a:cxnLst/>
              <a:rect r="r" b="b" t="t" l="l"/>
              <a:pathLst>
                <a:path h="1555060" w="2213140">
                  <a:moveTo>
                    <a:pt x="46988" y="0"/>
                  </a:moveTo>
                  <a:lnTo>
                    <a:pt x="2166152" y="0"/>
                  </a:lnTo>
                  <a:cubicBezTo>
                    <a:pt x="2192102" y="0"/>
                    <a:pt x="2213140" y="21037"/>
                    <a:pt x="2213140" y="46988"/>
                  </a:cubicBezTo>
                  <a:lnTo>
                    <a:pt x="2213140" y="1508072"/>
                  </a:lnTo>
                  <a:cubicBezTo>
                    <a:pt x="2213140" y="1520534"/>
                    <a:pt x="2208189" y="1532486"/>
                    <a:pt x="2199377" y="1541297"/>
                  </a:cubicBezTo>
                  <a:cubicBezTo>
                    <a:pt x="2190565" y="1550109"/>
                    <a:pt x="2178614" y="1555060"/>
                    <a:pt x="2166152" y="1555060"/>
                  </a:cubicBezTo>
                  <a:lnTo>
                    <a:pt x="46988" y="1555060"/>
                  </a:lnTo>
                  <a:cubicBezTo>
                    <a:pt x="34526" y="1555060"/>
                    <a:pt x="22574" y="1550109"/>
                    <a:pt x="13762" y="1541297"/>
                  </a:cubicBezTo>
                  <a:cubicBezTo>
                    <a:pt x="4950" y="1532486"/>
                    <a:pt x="0" y="1520534"/>
                    <a:pt x="0" y="1508072"/>
                  </a:cubicBezTo>
                  <a:lnTo>
                    <a:pt x="0" y="46988"/>
                  </a:lnTo>
                  <a:cubicBezTo>
                    <a:pt x="0" y="34526"/>
                    <a:pt x="4950" y="22574"/>
                    <a:pt x="13762" y="13762"/>
                  </a:cubicBezTo>
                  <a:cubicBezTo>
                    <a:pt x="22574" y="4950"/>
                    <a:pt x="34526" y="0"/>
                    <a:pt x="46988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3139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76710" y="2956340"/>
            <a:ext cx="8678563" cy="957510"/>
            <a:chOff x="0" y="0"/>
            <a:chExt cx="2285712" cy="252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29276" y="4155024"/>
            <a:ext cx="8525996" cy="5904368"/>
            <a:chOff x="0" y="0"/>
            <a:chExt cx="2245530" cy="1555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5530" cy="1555060"/>
            </a:xfrm>
            <a:custGeom>
              <a:avLst/>
              <a:gdLst/>
              <a:ahLst/>
              <a:cxnLst/>
              <a:rect r="r" b="b" t="t" l="l"/>
              <a:pathLst>
                <a:path h="1555060" w="2245530">
                  <a:moveTo>
                    <a:pt x="46310" y="0"/>
                  </a:moveTo>
                  <a:lnTo>
                    <a:pt x="2199220" y="0"/>
                  </a:lnTo>
                  <a:cubicBezTo>
                    <a:pt x="2224796" y="0"/>
                    <a:pt x="2245530" y="20734"/>
                    <a:pt x="2245530" y="46310"/>
                  </a:cubicBezTo>
                  <a:lnTo>
                    <a:pt x="2245530" y="1508750"/>
                  </a:lnTo>
                  <a:cubicBezTo>
                    <a:pt x="2245530" y="1534326"/>
                    <a:pt x="2224796" y="1555060"/>
                    <a:pt x="2199220" y="1555060"/>
                  </a:cubicBezTo>
                  <a:lnTo>
                    <a:pt x="46310" y="1555060"/>
                  </a:lnTo>
                  <a:cubicBezTo>
                    <a:pt x="20734" y="1555060"/>
                    <a:pt x="0" y="1534326"/>
                    <a:pt x="0" y="1508750"/>
                  </a:cubicBezTo>
                  <a:lnTo>
                    <a:pt x="0" y="46310"/>
                  </a:lnTo>
                  <a:cubicBezTo>
                    <a:pt x="0" y="20734"/>
                    <a:pt x="20734" y="0"/>
                    <a:pt x="46310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45530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84054" y="4786965"/>
            <a:ext cx="7782786" cy="4640486"/>
          </a:xfrm>
          <a:custGeom>
            <a:avLst/>
            <a:gdLst/>
            <a:ahLst/>
            <a:cxnLst/>
            <a:rect r="r" b="b" t="t" l="l"/>
            <a:pathLst>
              <a:path h="4640486" w="7782786">
                <a:moveTo>
                  <a:pt x="0" y="0"/>
                </a:moveTo>
                <a:lnTo>
                  <a:pt x="7782785" y="0"/>
                </a:lnTo>
                <a:lnTo>
                  <a:pt x="7782785" y="4640486"/>
                </a:lnTo>
                <a:lnTo>
                  <a:pt x="0" y="46404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041268" y="4786965"/>
            <a:ext cx="7620046" cy="4762529"/>
          </a:xfrm>
          <a:custGeom>
            <a:avLst/>
            <a:gdLst/>
            <a:ahLst/>
            <a:cxnLst/>
            <a:rect r="r" b="b" t="t" l="l"/>
            <a:pathLst>
              <a:path h="4762529" w="7620046">
                <a:moveTo>
                  <a:pt x="0" y="0"/>
                </a:moveTo>
                <a:lnTo>
                  <a:pt x="7620046" y="0"/>
                </a:lnTo>
                <a:lnTo>
                  <a:pt x="7620046" y="4762528"/>
                </a:lnTo>
                <a:lnTo>
                  <a:pt x="0" y="47625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85198" y="353060"/>
            <a:ext cx="10566506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Final Analysis and Business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4054" y="3143567"/>
            <a:ext cx="8084398" cy="53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466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profit for each sh</a:t>
            </a:r>
            <a:r>
              <a:rPr lang="en-US" sz="29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ipping mode per segment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4431" y="3089846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Sales and Profit by Region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5437" y="2978438"/>
            <a:ext cx="8678563" cy="957510"/>
            <a:chOff x="0" y="0"/>
            <a:chExt cx="2285712" cy="25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5437" y="4155024"/>
            <a:ext cx="8403014" cy="5904368"/>
            <a:chOff x="0" y="0"/>
            <a:chExt cx="2213139" cy="1555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3140" cy="1555060"/>
            </a:xfrm>
            <a:custGeom>
              <a:avLst/>
              <a:gdLst/>
              <a:ahLst/>
              <a:cxnLst/>
              <a:rect r="r" b="b" t="t" l="l"/>
              <a:pathLst>
                <a:path h="1555060" w="2213140">
                  <a:moveTo>
                    <a:pt x="46988" y="0"/>
                  </a:moveTo>
                  <a:lnTo>
                    <a:pt x="2166152" y="0"/>
                  </a:lnTo>
                  <a:cubicBezTo>
                    <a:pt x="2192102" y="0"/>
                    <a:pt x="2213140" y="21037"/>
                    <a:pt x="2213140" y="46988"/>
                  </a:cubicBezTo>
                  <a:lnTo>
                    <a:pt x="2213140" y="1508072"/>
                  </a:lnTo>
                  <a:cubicBezTo>
                    <a:pt x="2213140" y="1520534"/>
                    <a:pt x="2208189" y="1532486"/>
                    <a:pt x="2199377" y="1541297"/>
                  </a:cubicBezTo>
                  <a:cubicBezTo>
                    <a:pt x="2190565" y="1550109"/>
                    <a:pt x="2178614" y="1555060"/>
                    <a:pt x="2166152" y="1555060"/>
                  </a:cubicBezTo>
                  <a:lnTo>
                    <a:pt x="46988" y="1555060"/>
                  </a:lnTo>
                  <a:cubicBezTo>
                    <a:pt x="34526" y="1555060"/>
                    <a:pt x="22574" y="1550109"/>
                    <a:pt x="13762" y="1541297"/>
                  </a:cubicBezTo>
                  <a:cubicBezTo>
                    <a:pt x="4950" y="1532486"/>
                    <a:pt x="0" y="1520534"/>
                    <a:pt x="0" y="1508072"/>
                  </a:cubicBezTo>
                  <a:lnTo>
                    <a:pt x="0" y="46988"/>
                  </a:lnTo>
                  <a:cubicBezTo>
                    <a:pt x="0" y="34526"/>
                    <a:pt x="4950" y="22574"/>
                    <a:pt x="13762" y="13762"/>
                  </a:cubicBezTo>
                  <a:cubicBezTo>
                    <a:pt x="22574" y="4950"/>
                    <a:pt x="34526" y="0"/>
                    <a:pt x="46988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3139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76710" y="2956340"/>
            <a:ext cx="8678563" cy="957510"/>
            <a:chOff x="0" y="0"/>
            <a:chExt cx="2285712" cy="252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29276" y="4155024"/>
            <a:ext cx="8525996" cy="5904368"/>
            <a:chOff x="0" y="0"/>
            <a:chExt cx="2245530" cy="1555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5530" cy="1555060"/>
            </a:xfrm>
            <a:custGeom>
              <a:avLst/>
              <a:gdLst/>
              <a:ahLst/>
              <a:cxnLst/>
              <a:rect r="r" b="b" t="t" l="l"/>
              <a:pathLst>
                <a:path h="1555060" w="2245530">
                  <a:moveTo>
                    <a:pt x="46310" y="0"/>
                  </a:moveTo>
                  <a:lnTo>
                    <a:pt x="2199220" y="0"/>
                  </a:lnTo>
                  <a:cubicBezTo>
                    <a:pt x="2224796" y="0"/>
                    <a:pt x="2245530" y="20734"/>
                    <a:pt x="2245530" y="46310"/>
                  </a:cubicBezTo>
                  <a:lnTo>
                    <a:pt x="2245530" y="1508750"/>
                  </a:lnTo>
                  <a:cubicBezTo>
                    <a:pt x="2245530" y="1534326"/>
                    <a:pt x="2224796" y="1555060"/>
                    <a:pt x="2199220" y="1555060"/>
                  </a:cubicBezTo>
                  <a:lnTo>
                    <a:pt x="46310" y="1555060"/>
                  </a:lnTo>
                  <a:cubicBezTo>
                    <a:pt x="20734" y="1555060"/>
                    <a:pt x="0" y="1534326"/>
                    <a:pt x="0" y="1508750"/>
                  </a:cubicBezTo>
                  <a:lnTo>
                    <a:pt x="0" y="46310"/>
                  </a:lnTo>
                  <a:cubicBezTo>
                    <a:pt x="0" y="20734"/>
                    <a:pt x="20734" y="0"/>
                    <a:pt x="46310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45530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4308021"/>
            <a:ext cx="7235923" cy="5598374"/>
          </a:xfrm>
          <a:custGeom>
            <a:avLst/>
            <a:gdLst/>
            <a:ahLst/>
            <a:cxnLst/>
            <a:rect r="r" b="b" t="t" l="l"/>
            <a:pathLst>
              <a:path h="5598374" w="7235923">
                <a:moveTo>
                  <a:pt x="0" y="0"/>
                </a:moveTo>
                <a:lnTo>
                  <a:pt x="7235923" y="0"/>
                </a:lnTo>
                <a:lnTo>
                  <a:pt x="7235923" y="5598373"/>
                </a:lnTo>
                <a:lnTo>
                  <a:pt x="0" y="5598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154431" y="4276367"/>
            <a:ext cx="7518889" cy="5630027"/>
          </a:xfrm>
          <a:custGeom>
            <a:avLst/>
            <a:gdLst/>
            <a:ahLst/>
            <a:cxnLst/>
            <a:rect r="r" b="b" t="t" l="l"/>
            <a:pathLst>
              <a:path h="5630027" w="7518889">
                <a:moveTo>
                  <a:pt x="0" y="0"/>
                </a:moveTo>
                <a:lnTo>
                  <a:pt x="7518889" y="0"/>
                </a:lnTo>
                <a:lnTo>
                  <a:pt x="7518889" y="5630027"/>
                </a:lnTo>
                <a:lnTo>
                  <a:pt x="0" y="56300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85198" y="353060"/>
            <a:ext cx="10566506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Final Analysis and Business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4054" y="3134042"/>
            <a:ext cx="8084398" cy="60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082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Impact of Discou</a:t>
            </a:r>
            <a:r>
              <a:rPr lang="en-US" sz="33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nts on Profitability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4431" y="3089846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Origin</a:t>
            </a: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 Price vs. Discounted Price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5437" y="2978438"/>
            <a:ext cx="8678563" cy="957510"/>
            <a:chOff x="0" y="0"/>
            <a:chExt cx="2285712" cy="2521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65437" y="4071164"/>
            <a:ext cx="8507839" cy="5988228"/>
            <a:chOff x="0" y="0"/>
            <a:chExt cx="2240748" cy="15771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0748" cy="1577146"/>
            </a:xfrm>
            <a:custGeom>
              <a:avLst/>
              <a:gdLst/>
              <a:ahLst/>
              <a:cxnLst/>
              <a:rect r="r" b="b" t="t" l="l"/>
              <a:pathLst>
                <a:path h="1577146" w="2240748">
                  <a:moveTo>
                    <a:pt x="46409" y="0"/>
                  </a:moveTo>
                  <a:lnTo>
                    <a:pt x="2194339" y="0"/>
                  </a:lnTo>
                  <a:cubicBezTo>
                    <a:pt x="2219970" y="0"/>
                    <a:pt x="2240748" y="20778"/>
                    <a:pt x="2240748" y="46409"/>
                  </a:cubicBezTo>
                  <a:lnTo>
                    <a:pt x="2240748" y="1530738"/>
                  </a:lnTo>
                  <a:cubicBezTo>
                    <a:pt x="2240748" y="1543046"/>
                    <a:pt x="2235858" y="1554850"/>
                    <a:pt x="2227155" y="1563554"/>
                  </a:cubicBezTo>
                  <a:cubicBezTo>
                    <a:pt x="2218452" y="1572257"/>
                    <a:pt x="2206647" y="1577146"/>
                    <a:pt x="2194339" y="1577146"/>
                  </a:cubicBezTo>
                  <a:lnTo>
                    <a:pt x="46409" y="1577146"/>
                  </a:lnTo>
                  <a:cubicBezTo>
                    <a:pt x="20778" y="1577146"/>
                    <a:pt x="0" y="1556368"/>
                    <a:pt x="0" y="1530738"/>
                  </a:cubicBezTo>
                  <a:lnTo>
                    <a:pt x="0" y="46409"/>
                  </a:lnTo>
                  <a:cubicBezTo>
                    <a:pt x="0" y="34100"/>
                    <a:pt x="4889" y="22296"/>
                    <a:pt x="13593" y="13593"/>
                  </a:cubicBezTo>
                  <a:cubicBezTo>
                    <a:pt x="22296" y="4889"/>
                    <a:pt x="34100" y="0"/>
                    <a:pt x="46409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40748" cy="1615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76710" y="2956340"/>
            <a:ext cx="8678563" cy="957510"/>
            <a:chOff x="0" y="0"/>
            <a:chExt cx="2285712" cy="252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5712" cy="252184"/>
            </a:xfrm>
            <a:custGeom>
              <a:avLst/>
              <a:gdLst/>
              <a:ahLst/>
              <a:cxnLst/>
              <a:rect r="r" b="b" t="t" l="l"/>
              <a:pathLst>
                <a:path h="252184" w="2285712">
                  <a:moveTo>
                    <a:pt x="45496" y="0"/>
                  </a:moveTo>
                  <a:lnTo>
                    <a:pt x="2240216" y="0"/>
                  </a:lnTo>
                  <a:cubicBezTo>
                    <a:pt x="2252282" y="0"/>
                    <a:pt x="2263854" y="4793"/>
                    <a:pt x="2272387" y="13325"/>
                  </a:cubicBezTo>
                  <a:cubicBezTo>
                    <a:pt x="2280919" y="21858"/>
                    <a:pt x="2285712" y="33430"/>
                    <a:pt x="2285712" y="45496"/>
                  </a:cubicBezTo>
                  <a:lnTo>
                    <a:pt x="2285712" y="206688"/>
                  </a:lnTo>
                  <a:cubicBezTo>
                    <a:pt x="2285712" y="218754"/>
                    <a:pt x="2280919" y="230326"/>
                    <a:pt x="2272387" y="238858"/>
                  </a:cubicBezTo>
                  <a:cubicBezTo>
                    <a:pt x="2263854" y="247391"/>
                    <a:pt x="2252282" y="252184"/>
                    <a:pt x="2240216" y="252184"/>
                  </a:cubicBezTo>
                  <a:lnTo>
                    <a:pt x="45496" y="252184"/>
                  </a:lnTo>
                  <a:cubicBezTo>
                    <a:pt x="33430" y="252184"/>
                    <a:pt x="21858" y="247391"/>
                    <a:pt x="13325" y="238858"/>
                  </a:cubicBezTo>
                  <a:cubicBezTo>
                    <a:pt x="4793" y="230326"/>
                    <a:pt x="0" y="218754"/>
                    <a:pt x="0" y="206688"/>
                  </a:cubicBezTo>
                  <a:lnTo>
                    <a:pt x="0" y="45496"/>
                  </a:lnTo>
                  <a:cubicBezTo>
                    <a:pt x="0" y="33430"/>
                    <a:pt x="4793" y="21858"/>
                    <a:pt x="13325" y="13325"/>
                  </a:cubicBezTo>
                  <a:cubicBezTo>
                    <a:pt x="21858" y="4793"/>
                    <a:pt x="33430" y="0"/>
                    <a:pt x="45496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285712" cy="2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29276" y="4155024"/>
            <a:ext cx="8525996" cy="5904368"/>
            <a:chOff x="0" y="0"/>
            <a:chExt cx="2245530" cy="15550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5530" cy="1555060"/>
            </a:xfrm>
            <a:custGeom>
              <a:avLst/>
              <a:gdLst/>
              <a:ahLst/>
              <a:cxnLst/>
              <a:rect r="r" b="b" t="t" l="l"/>
              <a:pathLst>
                <a:path h="1555060" w="2245530">
                  <a:moveTo>
                    <a:pt x="46310" y="0"/>
                  </a:moveTo>
                  <a:lnTo>
                    <a:pt x="2199220" y="0"/>
                  </a:lnTo>
                  <a:cubicBezTo>
                    <a:pt x="2224796" y="0"/>
                    <a:pt x="2245530" y="20734"/>
                    <a:pt x="2245530" y="46310"/>
                  </a:cubicBezTo>
                  <a:lnTo>
                    <a:pt x="2245530" y="1508750"/>
                  </a:lnTo>
                  <a:cubicBezTo>
                    <a:pt x="2245530" y="1534326"/>
                    <a:pt x="2224796" y="1555060"/>
                    <a:pt x="2199220" y="1555060"/>
                  </a:cubicBezTo>
                  <a:lnTo>
                    <a:pt x="46310" y="1555060"/>
                  </a:lnTo>
                  <a:cubicBezTo>
                    <a:pt x="20734" y="1555060"/>
                    <a:pt x="0" y="1534326"/>
                    <a:pt x="0" y="1508750"/>
                  </a:cubicBezTo>
                  <a:lnTo>
                    <a:pt x="0" y="46310"/>
                  </a:lnTo>
                  <a:cubicBezTo>
                    <a:pt x="0" y="20734"/>
                    <a:pt x="20734" y="0"/>
                    <a:pt x="46310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45530" cy="159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09900" y="4294695"/>
            <a:ext cx="7978373" cy="5611700"/>
          </a:xfrm>
          <a:custGeom>
            <a:avLst/>
            <a:gdLst/>
            <a:ahLst/>
            <a:cxnLst/>
            <a:rect r="r" b="b" t="t" l="l"/>
            <a:pathLst>
              <a:path h="5611700" w="7978373">
                <a:moveTo>
                  <a:pt x="0" y="0"/>
                </a:moveTo>
                <a:lnTo>
                  <a:pt x="7978373" y="0"/>
                </a:lnTo>
                <a:lnTo>
                  <a:pt x="7978373" y="5611699"/>
                </a:lnTo>
                <a:lnTo>
                  <a:pt x="0" y="56116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744315" y="4511702"/>
            <a:ext cx="8295919" cy="5247169"/>
          </a:xfrm>
          <a:custGeom>
            <a:avLst/>
            <a:gdLst/>
            <a:ahLst/>
            <a:cxnLst/>
            <a:rect r="r" b="b" t="t" l="l"/>
            <a:pathLst>
              <a:path h="5247169" w="8295919">
                <a:moveTo>
                  <a:pt x="0" y="0"/>
                </a:moveTo>
                <a:lnTo>
                  <a:pt x="8295919" y="0"/>
                </a:lnTo>
                <a:lnTo>
                  <a:pt x="8295919" y="5247168"/>
                </a:lnTo>
                <a:lnTo>
                  <a:pt x="0" y="52471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85198" y="353060"/>
            <a:ext cx="10566506" cy="237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Final Analysis and Business Insights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4054" y="3162617"/>
            <a:ext cx="8084398" cy="43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5" indent="-259082" lvl="1">
              <a:lnSpc>
                <a:spcPts val="3696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original price and discou</a:t>
            </a:r>
            <a:r>
              <a:rPr lang="en-US" sz="24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nted price sub-category wise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4431" y="3089846"/>
            <a:ext cx="7323121" cy="58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928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32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ales and Profit Trends Over Time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2230233"/>
            <a:ext cx="13363958" cy="7665590"/>
            <a:chOff x="0" y="0"/>
            <a:chExt cx="3519725" cy="2018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9725" cy="2018921"/>
            </a:xfrm>
            <a:custGeom>
              <a:avLst/>
              <a:gdLst/>
              <a:ahLst/>
              <a:cxnLst/>
              <a:rect r="r" b="b" t="t" l="l"/>
              <a:pathLst>
                <a:path h="2018921" w="3519725">
                  <a:moveTo>
                    <a:pt x="29545" y="0"/>
                  </a:moveTo>
                  <a:lnTo>
                    <a:pt x="3490180" y="0"/>
                  </a:lnTo>
                  <a:cubicBezTo>
                    <a:pt x="3498016" y="0"/>
                    <a:pt x="3505531" y="3113"/>
                    <a:pt x="3511072" y="8654"/>
                  </a:cubicBezTo>
                  <a:cubicBezTo>
                    <a:pt x="3516613" y="14194"/>
                    <a:pt x="3519725" y="21709"/>
                    <a:pt x="3519725" y="29545"/>
                  </a:cubicBezTo>
                  <a:lnTo>
                    <a:pt x="3519725" y="1989376"/>
                  </a:lnTo>
                  <a:cubicBezTo>
                    <a:pt x="3519725" y="1997212"/>
                    <a:pt x="3516613" y="2004726"/>
                    <a:pt x="3511072" y="2010267"/>
                  </a:cubicBezTo>
                  <a:cubicBezTo>
                    <a:pt x="3505531" y="2015808"/>
                    <a:pt x="3498016" y="2018921"/>
                    <a:pt x="3490180" y="2018921"/>
                  </a:cubicBezTo>
                  <a:lnTo>
                    <a:pt x="29545" y="2018921"/>
                  </a:lnTo>
                  <a:cubicBezTo>
                    <a:pt x="21709" y="2018921"/>
                    <a:pt x="14194" y="2015808"/>
                    <a:pt x="8654" y="2010267"/>
                  </a:cubicBezTo>
                  <a:cubicBezTo>
                    <a:pt x="3113" y="2004726"/>
                    <a:pt x="0" y="1997212"/>
                    <a:pt x="0" y="1989376"/>
                  </a:cubicBezTo>
                  <a:lnTo>
                    <a:pt x="0" y="29545"/>
                  </a:lnTo>
                  <a:cubicBezTo>
                    <a:pt x="0" y="21709"/>
                    <a:pt x="3113" y="14194"/>
                    <a:pt x="8654" y="8654"/>
                  </a:cubicBezTo>
                  <a:cubicBezTo>
                    <a:pt x="14194" y="3113"/>
                    <a:pt x="21709" y="0"/>
                    <a:pt x="29545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9725" cy="2057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741822" y="747717"/>
            <a:ext cx="10019656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Pivot Table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4892" y="2429062"/>
            <a:ext cx="12413656" cy="716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b="true" sz="28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Categ</a:t>
            </a:r>
            <a:r>
              <a:rPr lang="en-US" b="true" sz="28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ory vs. Segment Profitability</a:t>
            </a: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sz="28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Created a pivot table showing total Sales and total Profit grouped by:</a:t>
            </a: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sz="28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Product Category</a:t>
            </a: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sz="28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Customer Segment</a:t>
            </a: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sz="28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To understand how each product category performs across different customer segments.</a:t>
            </a:r>
          </a:p>
          <a:p>
            <a:pPr algn="l">
              <a:lnSpc>
                <a:spcPts val="4403"/>
              </a:lnSpc>
            </a:pP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b="true" sz="28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 Insights :</a:t>
            </a: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sz="28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Consumer drives the most profit and revenue, especially in Office Supplies and Technology.</a:t>
            </a: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sz="28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Corporate performs well in Office Supplies but underperforms in Furniture.</a:t>
            </a:r>
          </a:p>
          <a:p>
            <a:pPr algn="l" marL="617344" indent="-308672" lvl="1">
              <a:lnSpc>
                <a:spcPts val="4403"/>
              </a:lnSpc>
              <a:buFont typeface="Arial"/>
              <a:buChar char="•"/>
            </a:pPr>
            <a:r>
              <a:rPr lang="en-US" sz="28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Home Office is the least profitable across all categories.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1831898"/>
            <a:ext cx="13363958" cy="8227493"/>
            <a:chOff x="0" y="0"/>
            <a:chExt cx="3519725" cy="21669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9725" cy="2166912"/>
            </a:xfrm>
            <a:custGeom>
              <a:avLst/>
              <a:gdLst/>
              <a:ahLst/>
              <a:cxnLst/>
              <a:rect r="r" b="b" t="t" l="l"/>
              <a:pathLst>
                <a:path h="2166912" w="3519725">
                  <a:moveTo>
                    <a:pt x="29545" y="0"/>
                  </a:moveTo>
                  <a:lnTo>
                    <a:pt x="3490180" y="0"/>
                  </a:lnTo>
                  <a:cubicBezTo>
                    <a:pt x="3498016" y="0"/>
                    <a:pt x="3505531" y="3113"/>
                    <a:pt x="3511072" y="8654"/>
                  </a:cubicBezTo>
                  <a:cubicBezTo>
                    <a:pt x="3516613" y="14194"/>
                    <a:pt x="3519725" y="21709"/>
                    <a:pt x="3519725" y="29545"/>
                  </a:cubicBezTo>
                  <a:lnTo>
                    <a:pt x="3519725" y="2137367"/>
                  </a:lnTo>
                  <a:cubicBezTo>
                    <a:pt x="3519725" y="2145203"/>
                    <a:pt x="3516613" y="2152717"/>
                    <a:pt x="3511072" y="2158258"/>
                  </a:cubicBezTo>
                  <a:cubicBezTo>
                    <a:pt x="3505531" y="2163799"/>
                    <a:pt x="3498016" y="2166912"/>
                    <a:pt x="3490180" y="2166912"/>
                  </a:cubicBezTo>
                  <a:lnTo>
                    <a:pt x="29545" y="2166912"/>
                  </a:lnTo>
                  <a:cubicBezTo>
                    <a:pt x="21709" y="2166912"/>
                    <a:pt x="14194" y="2163799"/>
                    <a:pt x="8654" y="2158258"/>
                  </a:cubicBezTo>
                  <a:cubicBezTo>
                    <a:pt x="3113" y="2152717"/>
                    <a:pt x="0" y="2145203"/>
                    <a:pt x="0" y="2137367"/>
                  </a:cubicBezTo>
                  <a:lnTo>
                    <a:pt x="0" y="29545"/>
                  </a:lnTo>
                  <a:cubicBezTo>
                    <a:pt x="0" y="21709"/>
                    <a:pt x="3113" y="14194"/>
                    <a:pt x="8654" y="8654"/>
                  </a:cubicBezTo>
                  <a:cubicBezTo>
                    <a:pt x="14194" y="3113"/>
                    <a:pt x="21709" y="0"/>
                    <a:pt x="29545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9725" cy="220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99892" y="291933"/>
            <a:ext cx="10019656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Pivot Table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4892" y="1918723"/>
            <a:ext cx="12413656" cy="797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b="true" sz="27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Shipping M</a:t>
            </a:r>
            <a:r>
              <a:rPr lang="en-US" b="true" sz="27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ode vs. Region Analysis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b="true" sz="27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Built a pivot table summarizing: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Order count, Total Sales, Total Profit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Grouped by: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Region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Shipping Mode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To evaluate shipping preferences and their impact on profitability across regions.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b="true" sz="27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 Insights: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Standard Class is most used in all regions, with West having the highest orders.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West generates highest profit from Standard Class; Central the least.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Same mode, varying profits → cost differences across regions.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West leads in avg. profit, followed by South and East.</a:t>
            </a:r>
          </a:p>
          <a:p>
            <a:pPr algn="l" marL="595754" indent="-297877" lvl="1">
              <a:lnSpc>
                <a:spcPts val="4249"/>
              </a:lnSpc>
              <a:buFont typeface="Arial"/>
              <a:buChar char="•"/>
            </a:pPr>
            <a:r>
              <a:rPr lang="en-US" sz="27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Central has lowest avg. profit → scope for improvement.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557186" y="-5988665"/>
            <a:ext cx="11718479" cy="20832852"/>
          </a:xfrm>
          <a:custGeom>
            <a:avLst/>
            <a:gdLst/>
            <a:ahLst/>
            <a:cxnLst/>
            <a:rect r="r" b="b" t="t" l="l"/>
            <a:pathLst>
              <a:path h="20832852" w="11718479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29741" y="1831898"/>
            <a:ext cx="13363958" cy="8227493"/>
            <a:chOff x="0" y="0"/>
            <a:chExt cx="3519725" cy="21669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9725" cy="2166912"/>
            </a:xfrm>
            <a:custGeom>
              <a:avLst/>
              <a:gdLst/>
              <a:ahLst/>
              <a:cxnLst/>
              <a:rect r="r" b="b" t="t" l="l"/>
              <a:pathLst>
                <a:path h="2166912" w="3519725">
                  <a:moveTo>
                    <a:pt x="29545" y="0"/>
                  </a:moveTo>
                  <a:lnTo>
                    <a:pt x="3490180" y="0"/>
                  </a:lnTo>
                  <a:cubicBezTo>
                    <a:pt x="3498016" y="0"/>
                    <a:pt x="3505531" y="3113"/>
                    <a:pt x="3511072" y="8654"/>
                  </a:cubicBezTo>
                  <a:cubicBezTo>
                    <a:pt x="3516613" y="14194"/>
                    <a:pt x="3519725" y="21709"/>
                    <a:pt x="3519725" y="29545"/>
                  </a:cubicBezTo>
                  <a:lnTo>
                    <a:pt x="3519725" y="2137367"/>
                  </a:lnTo>
                  <a:cubicBezTo>
                    <a:pt x="3519725" y="2145203"/>
                    <a:pt x="3516613" y="2152717"/>
                    <a:pt x="3511072" y="2158258"/>
                  </a:cubicBezTo>
                  <a:cubicBezTo>
                    <a:pt x="3505531" y="2163799"/>
                    <a:pt x="3498016" y="2166912"/>
                    <a:pt x="3490180" y="2166912"/>
                  </a:cubicBezTo>
                  <a:lnTo>
                    <a:pt x="29545" y="2166912"/>
                  </a:lnTo>
                  <a:cubicBezTo>
                    <a:pt x="21709" y="2166912"/>
                    <a:pt x="14194" y="2163799"/>
                    <a:pt x="8654" y="2158258"/>
                  </a:cubicBezTo>
                  <a:cubicBezTo>
                    <a:pt x="3113" y="2152717"/>
                    <a:pt x="0" y="2145203"/>
                    <a:pt x="0" y="2137367"/>
                  </a:cubicBezTo>
                  <a:lnTo>
                    <a:pt x="0" y="29545"/>
                  </a:lnTo>
                  <a:cubicBezTo>
                    <a:pt x="0" y="21709"/>
                    <a:pt x="3113" y="14194"/>
                    <a:pt x="8654" y="8654"/>
                  </a:cubicBezTo>
                  <a:cubicBezTo>
                    <a:pt x="14194" y="3113"/>
                    <a:pt x="21709" y="0"/>
                    <a:pt x="29545" y="0"/>
                  </a:cubicBezTo>
                  <a:close/>
                </a:path>
              </a:pathLst>
            </a:custGeom>
            <a:solidFill>
              <a:srgbClr val="DBE0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9725" cy="220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699892" y="291933"/>
            <a:ext cx="10019656" cy="1284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Pivot Table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4892" y="2176996"/>
            <a:ext cx="12413656" cy="741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b="true" sz="34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Stat</a:t>
            </a:r>
            <a:r>
              <a:rPr lang="en-US" b="true" sz="34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e-Wise Profitability Analysis</a:t>
            </a:r>
          </a:p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b="true" sz="34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4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Created a pivot table to calculate total profit by State.</a:t>
            </a:r>
          </a:p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To assess geographical profitability and identify top-performing or underperforming states.</a:t>
            </a:r>
          </a:p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b="true" sz="34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 Insights to Mention:</a:t>
            </a:r>
          </a:p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b="true" sz="34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Top 5 Profitable States:</a:t>
            </a:r>
          </a:p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Vermont, West Virginia, Mississippi, Arkansas, Indiana.</a:t>
            </a:r>
          </a:p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b="true" sz="34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Bottom 5 States:</a:t>
            </a:r>
          </a:p>
          <a:p>
            <a:pPr algn="l" marL="746881" indent="-373440" lvl="1">
              <a:lnSpc>
                <a:spcPts val="5327"/>
              </a:lnSpc>
              <a:buFont typeface="Arial"/>
              <a:buChar char="•"/>
            </a:pPr>
            <a:r>
              <a:rPr lang="en-US" sz="345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Tennessee, Texas, Ohio, Pennsylvania, Illinois (loss-making).</a:t>
            </a:r>
          </a:p>
          <a:p>
            <a:pPr algn="l">
              <a:lnSpc>
                <a:spcPts val="5327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519025" y="396902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486600" y="7366014"/>
            <a:ext cx="2359274" cy="2359274"/>
          </a:xfrm>
          <a:custGeom>
            <a:avLst/>
            <a:gdLst/>
            <a:ahLst/>
            <a:cxnLst/>
            <a:rect r="r" b="b" t="t" l="l"/>
            <a:pathLst>
              <a:path h="2359274" w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6600" y="3969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3953" y="3669672"/>
            <a:ext cx="7691481" cy="28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35"/>
              </a:lnSpc>
            </a:pPr>
            <a:r>
              <a:rPr lang="en-US" sz="17790">
                <a:solidFill>
                  <a:srgbClr val="000000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669672"/>
            <a:ext cx="3698379" cy="282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45"/>
              </a:lnSpc>
            </a:pPr>
            <a:r>
              <a:rPr lang="en-US" sz="17799" b="true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7095" y="7366014"/>
            <a:ext cx="2693378" cy="2693378"/>
          </a:xfrm>
          <a:custGeom>
            <a:avLst/>
            <a:gdLst/>
            <a:ahLst/>
            <a:cxnLst/>
            <a:rect r="r" b="b" t="t" l="l"/>
            <a:pathLst>
              <a:path h="2693378" w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DAGuGmhAdbU</dc:identifier>
  <dcterms:modified xsi:type="dcterms:W3CDTF">2011-08-01T06:04:30Z</dcterms:modified>
  <cp:revision>1</cp:revision>
  <dc:title>CASE</dc:title>
</cp:coreProperties>
</file>